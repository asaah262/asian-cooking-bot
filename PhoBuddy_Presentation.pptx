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30"/>
  </p:normalViewPr>
  <p:slideViewPr>
    <p:cSldViewPr snapToGrid="0">
      <p:cViewPr varScale="1">
        <p:scale>
          <a:sx n="151" d="100"/>
          <a:sy n="151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Correctness</c:v>
                </c:pt>
              </c:strCache>
            </c:strRef>
          </c:tx>
          <c:spPr>
            <a:solidFill>
              <a:srgbClr val="E94560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E6AA-514C-9C3D-A1116EB095F9}"/>
              </c:ext>
            </c:extLst>
          </c:dPt>
          <c:dPt>
            <c:idx val="1"/>
            <c:invertIfNegative val="1"/>
            <c:bubble3D val="0"/>
            <c:spPr>
              <a:solidFill>
                <a:srgbClr val="F5A623"/>
              </a:solidFill>
            </c:spPr>
            <c:extLst>
              <c:ext xmlns:c16="http://schemas.microsoft.com/office/drawing/2014/chart" uri="{C3380CC4-5D6E-409C-BE32-E72D297353CC}">
                <c16:uniqueId val="{00000003-E6AA-514C-9C3D-A1116EB095F9}"/>
              </c:ext>
            </c:extLst>
          </c:dPt>
          <c:dPt>
            <c:idx val="2"/>
            <c:invertIfNegative val="1"/>
            <c:bubble3D val="0"/>
            <c:spPr>
              <a:solidFill>
                <a:srgbClr val="10B981"/>
              </a:solidFill>
            </c:spPr>
            <c:extLst>
              <c:ext xmlns:c16="http://schemas.microsoft.com/office/drawing/2014/chart" uri="{C3380CC4-5D6E-409C-BE32-E72D297353CC}">
                <c16:uniqueId val="{00000005-E6AA-514C-9C3D-A1116EB095F9}"/>
              </c:ext>
            </c:extLst>
          </c:dPt>
          <c:dPt>
            <c:idx val="3"/>
            <c:invertIfNegative val="1"/>
            <c:bubble3D val="0"/>
            <c:spPr>
              <a:solidFill>
                <a:srgbClr val="0F3460"/>
              </a:solidFill>
            </c:spPr>
            <c:extLst>
              <c:ext xmlns:c16="http://schemas.microsoft.com/office/drawing/2014/chart" uri="{C3380CC4-5D6E-409C-BE32-E72D297353CC}">
                <c16:uniqueId val="{00000007-E6AA-514C-9C3D-A1116EB095F9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v1</c:v>
                </c:pt>
                <c:pt idx="1">
                  <c:v>v2</c:v>
                </c:pt>
                <c:pt idx="2">
                  <c:v>v3</c:v>
                </c:pt>
                <c:pt idx="3">
                  <c:v>v4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0.6</c:v>
                </c:pt>
                <c:pt idx="2">
                  <c:v>0.8</c:v>
                </c:pt>
                <c:pt idx="3">
                  <c:v>0.6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E6AA-514C-9C3D-A1116EB095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DE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</c:scaling>
        <c:delete val="0"/>
        <c:axPos val="l"/>
        <c:majorGridlines>
          <c:spPr>
            <a:ln w="3810">
              <a:solidFill>
                <a:srgbClr val="FFFFFF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DE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16213E"/>
    </a:solidFill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Hallucination</c:v>
                </c:pt>
              </c:strCache>
            </c:strRef>
          </c:tx>
          <c:spPr>
            <a:solidFill>
              <a:srgbClr val="E94560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9D0E-B04C-8118-E1221171C105}"/>
              </c:ext>
            </c:extLst>
          </c:dPt>
          <c:dPt>
            <c:idx val="1"/>
            <c:invertIfNegative val="1"/>
            <c:bubble3D val="0"/>
            <c:spPr>
              <a:solidFill>
                <a:srgbClr val="F5A623"/>
              </a:solidFill>
            </c:spPr>
            <c:extLst>
              <c:ext xmlns:c16="http://schemas.microsoft.com/office/drawing/2014/chart" uri="{C3380CC4-5D6E-409C-BE32-E72D297353CC}">
                <c16:uniqueId val="{00000003-9D0E-B04C-8118-E1221171C105}"/>
              </c:ext>
            </c:extLst>
          </c:dPt>
          <c:dPt>
            <c:idx val="2"/>
            <c:invertIfNegative val="1"/>
            <c:bubble3D val="0"/>
            <c:spPr>
              <a:solidFill>
                <a:srgbClr val="10B981"/>
              </a:solidFill>
            </c:spPr>
            <c:extLst>
              <c:ext xmlns:c16="http://schemas.microsoft.com/office/drawing/2014/chart" uri="{C3380CC4-5D6E-409C-BE32-E72D297353CC}">
                <c16:uniqueId val="{00000005-9D0E-B04C-8118-E1221171C105}"/>
              </c:ext>
            </c:extLst>
          </c:dPt>
          <c:dPt>
            <c:idx val="3"/>
            <c:invertIfNegative val="1"/>
            <c:bubble3D val="0"/>
            <c:spPr>
              <a:solidFill>
                <a:srgbClr val="0F3460"/>
              </a:solidFill>
            </c:spPr>
            <c:extLst>
              <c:ext xmlns:c16="http://schemas.microsoft.com/office/drawing/2014/chart" uri="{C3380CC4-5D6E-409C-BE32-E72D297353CC}">
                <c16:uniqueId val="{00000007-9D0E-B04C-8118-E1221171C105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v1</c:v>
                </c:pt>
                <c:pt idx="1">
                  <c:v>v2</c:v>
                </c:pt>
                <c:pt idx="2">
                  <c:v>v3</c:v>
                </c:pt>
                <c:pt idx="3">
                  <c:v>v4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</c:v>
                </c:pt>
                <c:pt idx="2">
                  <c:v>0.6</c:v>
                </c:pt>
                <c:pt idx="3">
                  <c:v>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9D0E-B04C-8118-E1221171C1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DE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</c:scaling>
        <c:delete val="0"/>
        <c:axPos val="l"/>
        <c:majorGridlines>
          <c:spPr>
            <a:ln w="3810">
              <a:solidFill>
                <a:srgbClr val="FFFFFF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DE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16213E"/>
    </a:solidFill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ROUGE-1</c:v>
                </c:pt>
              </c:strCache>
            </c:strRef>
          </c:tx>
          <c:spPr>
            <a:solidFill>
              <a:srgbClr val="0F3460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10B981"/>
              </a:solidFill>
            </c:spPr>
            <c:extLst>
              <c:ext xmlns:c16="http://schemas.microsoft.com/office/drawing/2014/chart" uri="{C3380CC4-5D6E-409C-BE32-E72D297353CC}">
                <c16:uniqueId val="{00000001-9358-A742-892F-5A8A8EAC81A3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v1</c:v>
                </c:pt>
                <c:pt idx="1">
                  <c:v>v2</c:v>
                </c:pt>
                <c:pt idx="2">
                  <c:v>v3</c:v>
                </c:pt>
                <c:pt idx="3">
                  <c:v>v4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0.14699999999999999</c:v>
                </c:pt>
                <c:pt idx="1">
                  <c:v>8.5999999999999993E-2</c:v>
                </c:pt>
                <c:pt idx="2">
                  <c:v>9.2999999999999999E-2</c:v>
                </c:pt>
                <c:pt idx="3">
                  <c:v>0.29199999999999998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358-A742-892F-5A8A8EAC81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DE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3810">
              <a:solidFill>
                <a:srgbClr val="FFFFFF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DE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16213E"/>
    </a:solidFill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sian-cooking-bot-cpkc3vyb9bkw8ktdtdxhvn.streamlit.app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saah262/asian-cooking-bo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DB742D-01FA-47EA-BD9D-805E2FB039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08225D7-4C5E-4C31-B601-53F32BF9DF42}"/>
              </a:ext>
            </a:extLst>
          </p:cNvPr>
          <p:cNvSpPr>
            <a:spLocks noGrp="1"/>
          </p:cNvSpPr>
          <p:nvPr/>
        </p:nvSpPr>
        <p:spPr>
          <a:xfrm>
            <a:off x="365760" y="640080"/>
            <a:ext cx="109728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5600">
                <a:solidFill>
                  <a:srgbClr val="000000"/>
                </a:solidFill>
              </a:rPr>
              <a:t>🍜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ABCA185-861E-4C13-82E5-5E6030182DB0}"/>
              </a:ext>
            </a:extLst>
          </p:cNvPr>
          <p:cNvSpPr>
            <a:spLocks noGrp="1"/>
          </p:cNvSpPr>
          <p:nvPr/>
        </p:nvSpPr>
        <p:spPr>
          <a:xfrm>
            <a:off x="274320" y="146304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PhoBuddy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F517FC1-6C68-4D3A-BF13-9ACA52F8FA0A}"/>
              </a:ext>
            </a:extLst>
          </p:cNvPr>
          <p:cNvSpPr>
            <a:spLocks noGrp="1"/>
          </p:cNvSpPr>
          <p:nvPr/>
        </p:nvSpPr>
        <p:spPr>
          <a:xfrm>
            <a:off x="274320" y="24231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Asian Cooking AI Assistant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E9BD256-795D-411B-9958-46716F7CB30D}"/>
              </a:ext>
            </a:extLst>
          </p:cNvPr>
          <p:cNvSpPr>
            <a:spLocks noGrp="1"/>
          </p:cNvSpPr>
          <p:nvPr/>
        </p:nvSpPr>
        <p:spPr>
          <a:xfrm>
            <a:off x="274320" y="3063240"/>
            <a:ext cx="3200400" cy="36576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DE85F1E-82B6-4679-AB38-7E3F0671F2F0}"/>
              </a:ext>
            </a:extLst>
          </p:cNvPr>
          <p:cNvSpPr>
            <a:spLocks noGrp="1"/>
          </p:cNvSpPr>
          <p:nvPr/>
        </p:nvSpPr>
        <p:spPr>
          <a:xfrm>
            <a:off x="274320" y="32004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i="1">
                <a:solidFill>
                  <a:srgbClr val="94A3B8"/>
                </a:solidFill>
              </a:rPr>
              <a:t>Vietnamese · Thai · Chinese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EC30CAD-FD6D-4B6A-AFD0-C72778A8E4A7}"/>
              </a:ext>
            </a:extLst>
          </p:cNvPr>
          <p:cNvSpPr>
            <a:spLocks noGrp="1"/>
          </p:cNvSpPr>
          <p:nvPr/>
        </p:nvSpPr>
        <p:spPr>
          <a:xfrm>
            <a:off x="274320" y="44805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94A3B8"/>
                </a:solidFill>
              </a:rPr>
              <a:t>Sara Ahmadi    |    7 min + 2 min demo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3A3DDA7-89F2-47A6-B5D8-D8DF17BF7B11}"/>
              </a:ext>
            </a:extLst>
          </p:cNvPr>
          <p:cNvSpPr>
            <a:spLocks noGrp="1"/>
          </p:cNvSpPr>
          <p:nvPr/>
        </p:nvSpPr>
        <p:spPr>
          <a:xfrm>
            <a:off x="274320" y="402336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0F3460"/>
          </a:solidFill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404DC56-4DAD-4573-9689-0F769FC91CFE}"/>
              </a:ext>
            </a:extLst>
          </p:cNvPr>
          <p:cNvSpPr>
            <a:spLocks noGrp="1"/>
          </p:cNvSpPr>
          <p:nvPr/>
        </p:nvSpPr>
        <p:spPr>
          <a:xfrm>
            <a:off x="274320" y="402336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FFFFFF"/>
                </a:solidFill>
              </a:rPr>
              <a:t>LangChain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243EB60-71FC-4E6C-994A-99109FA9EDC4}"/>
              </a:ext>
            </a:extLst>
          </p:cNvPr>
          <p:cNvSpPr>
            <a:spLocks noGrp="1"/>
          </p:cNvSpPr>
          <p:nvPr/>
        </p:nvSpPr>
        <p:spPr>
          <a:xfrm>
            <a:off x="1261872" y="402336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0F3460"/>
          </a:solidFill>
        </p:spPr>
        <p:txBody>
          <a:bodyPr/>
          <a:lstStyle/>
          <a:p>
            <a:endParaRPr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246F34B-AC7F-42C9-B11A-22077CB10693}"/>
              </a:ext>
            </a:extLst>
          </p:cNvPr>
          <p:cNvSpPr>
            <a:spLocks noGrp="1"/>
          </p:cNvSpPr>
          <p:nvPr/>
        </p:nvSpPr>
        <p:spPr>
          <a:xfrm>
            <a:off x="1261872" y="402336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FFFFFF"/>
                </a:solidFill>
              </a:rPr>
              <a:t>LangGraph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A4324FFE-59BD-40E4-92AB-D59D9D08A51F}"/>
              </a:ext>
            </a:extLst>
          </p:cNvPr>
          <p:cNvSpPr>
            <a:spLocks noGrp="1"/>
          </p:cNvSpPr>
          <p:nvPr/>
        </p:nvSpPr>
        <p:spPr>
          <a:xfrm>
            <a:off x="2249424" y="402336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0F3460"/>
          </a:solidFill>
        </p:spPr>
        <p:txBody>
          <a:bodyPr/>
          <a:lstStyle/>
          <a:p>
            <a:endParaRPr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0B2B214-88EE-4EB6-954F-B2BAD79E9DE8}"/>
              </a:ext>
            </a:extLst>
          </p:cNvPr>
          <p:cNvSpPr>
            <a:spLocks noGrp="1"/>
          </p:cNvSpPr>
          <p:nvPr/>
        </p:nvSpPr>
        <p:spPr>
          <a:xfrm>
            <a:off x="2249424" y="402336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FFFFFF"/>
                </a:solidFill>
              </a:rPr>
              <a:t>ChromaDB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1E67AA2B-9552-491D-BB77-D552CEC0E625}"/>
              </a:ext>
            </a:extLst>
          </p:cNvPr>
          <p:cNvSpPr>
            <a:spLocks noGrp="1"/>
          </p:cNvSpPr>
          <p:nvPr/>
        </p:nvSpPr>
        <p:spPr>
          <a:xfrm>
            <a:off x="3236976" y="402336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0F3460"/>
          </a:solidFill>
        </p:spPr>
        <p:txBody>
          <a:bodyPr/>
          <a:lstStyle/>
          <a:p>
            <a:endParaRPr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BAE41F3-793E-466D-AB03-68995119157F}"/>
              </a:ext>
            </a:extLst>
          </p:cNvPr>
          <p:cNvSpPr>
            <a:spLocks noGrp="1"/>
          </p:cNvSpPr>
          <p:nvPr/>
        </p:nvSpPr>
        <p:spPr>
          <a:xfrm>
            <a:off x="3236976" y="402336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FFFFFF"/>
                </a:solidFill>
              </a:rPr>
              <a:t>GPT-4o-mini</a:t>
            </a: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F2DCB902-8AC1-4511-9013-B749832690E6}"/>
              </a:ext>
            </a:extLst>
          </p:cNvPr>
          <p:cNvSpPr>
            <a:spLocks noGrp="1"/>
          </p:cNvSpPr>
          <p:nvPr/>
        </p:nvSpPr>
        <p:spPr>
          <a:xfrm>
            <a:off x="4224528" y="402336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0F3460"/>
          </a:solidFill>
        </p:spPr>
        <p:txBody>
          <a:bodyPr/>
          <a:lstStyle/>
          <a:p>
            <a:endParaRPr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276505A-832B-40F9-B074-CE280672D484}"/>
              </a:ext>
            </a:extLst>
          </p:cNvPr>
          <p:cNvSpPr>
            <a:spLocks noGrp="1"/>
          </p:cNvSpPr>
          <p:nvPr/>
        </p:nvSpPr>
        <p:spPr>
          <a:xfrm>
            <a:off x="4224528" y="402336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FFFFFF"/>
                </a:solidFill>
              </a:rPr>
              <a:t>Streamlit</a:t>
            </a:r>
          </a:p>
        </p:txBody>
      </p:sp>
    </p:spTree>
    <p:extLst>
      <p:ext uri="{BB962C8B-B14F-4D97-AF65-F5344CB8AC3E}">
        <p14:creationId xmlns:p14="http://schemas.microsoft.com/office/powerpoint/2010/main" val="60927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7E7A0E-7FE1-4F71-A36B-EDEC405116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023F24-6944-4B16-8791-202B48A1C92C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Why PhoBuddy?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7033947-69E5-4DBA-8E0D-7524B38575C1}"/>
              </a:ext>
            </a:extLst>
          </p:cNvPr>
          <p:cNvSpPr>
            <a:spLocks noGrp="1"/>
          </p:cNvSpPr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1A1A2E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5E9D9A-3159-47F3-9032-BF3DF1C14463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>
                <a:solidFill>
                  <a:srgbClr val="FFFFFF"/>
                </a:solidFill>
              </a:rPr>
              <a:t>🍜  </a:t>
            </a:r>
            <a:r>
              <a:rPr sz="1400">
                <a:solidFill>
                  <a:srgbClr val="FFFFFF"/>
                </a:solidFill>
              </a:rPr>
              <a:t>Asian cuisine has some of the most complex techniques and ingredients in the world — yet most cooking assistants give generic answers that ignore authentic preparation methods.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17E744C-646E-437F-B07B-731649CE20C1}"/>
              </a:ext>
            </a:extLst>
          </p:cNvPr>
          <p:cNvSpPr>
            <a:spLocks noGrp="1"/>
          </p:cNvSpPr>
          <p:nvPr/>
        </p:nvSpPr>
        <p:spPr>
          <a:xfrm>
            <a:off x="365760" y="2148840"/>
            <a:ext cx="2651760" cy="25603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E835393-ADD2-45D6-9351-7FB83798AB65}"/>
              </a:ext>
            </a:extLst>
          </p:cNvPr>
          <p:cNvSpPr>
            <a:spLocks noGrp="1"/>
          </p:cNvSpPr>
          <p:nvPr/>
        </p:nvSpPr>
        <p:spPr>
          <a:xfrm>
            <a:off x="365760" y="2240280"/>
            <a:ext cx="26517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3200">
                <a:solidFill>
                  <a:srgbClr val="000000"/>
                </a:solidFill>
              </a:rPr>
              <a:t>🎥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8A9F647-E1AA-4821-AD4D-3932A8E4B2D7}"/>
              </a:ext>
            </a:extLst>
          </p:cNvPr>
          <p:cNvSpPr>
            <a:spLocks noGrp="1"/>
          </p:cNvSpPr>
          <p:nvPr/>
        </p:nvSpPr>
        <p:spPr>
          <a:xfrm>
            <a:off x="365760" y="283464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A1A2E"/>
                </a:solidFill>
              </a:rPr>
              <a:t>Video-Grounded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0D9B82C-9054-4E46-A265-889EC463C842}"/>
              </a:ext>
            </a:extLst>
          </p:cNvPr>
          <p:cNvSpPr>
            <a:spLocks noGrp="1"/>
          </p:cNvSpPr>
          <p:nvPr/>
        </p:nvSpPr>
        <p:spPr>
          <a:xfrm>
            <a:off x="1371600" y="3246120"/>
            <a:ext cx="640080" cy="27432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F835725-2725-4DA4-9298-DFB1F8111D64}"/>
              </a:ext>
            </a:extLst>
          </p:cNvPr>
          <p:cNvSpPr>
            <a:spLocks noGrp="1"/>
          </p:cNvSpPr>
          <p:nvPr/>
        </p:nvSpPr>
        <p:spPr>
          <a:xfrm>
            <a:off x="457200" y="3337560"/>
            <a:ext cx="246888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>
                <a:solidFill>
                  <a:srgbClr val="64748B"/>
                </a:solidFill>
              </a:rPr>
              <a:t>Answers sourced directly from trusted YouTube cooking channels — not generic LLM knowledge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B17A70C-DE35-462E-A007-73096111B1D2}"/>
              </a:ext>
            </a:extLst>
          </p:cNvPr>
          <p:cNvSpPr>
            <a:spLocks noGrp="1"/>
          </p:cNvSpPr>
          <p:nvPr/>
        </p:nvSpPr>
        <p:spPr>
          <a:xfrm>
            <a:off x="3200400" y="2148840"/>
            <a:ext cx="2651760" cy="25603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30567B3-85DB-4220-BC50-880A28F2C206}"/>
              </a:ext>
            </a:extLst>
          </p:cNvPr>
          <p:cNvSpPr>
            <a:spLocks noGrp="1"/>
          </p:cNvSpPr>
          <p:nvPr/>
        </p:nvSpPr>
        <p:spPr>
          <a:xfrm>
            <a:off x="3200400" y="2240280"/>
            <a:ext cx="26517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3200">
                <a:solidFill>
                  <a:srgbClr val="000000"/>
                </a:solidFill>
              </a:rPr>
              <a:t>🧠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A706E42-361A-45D2-9149-83AB3CDD7624}"/>
              </a:ext>
            </a:extLst>
          </p:cNvPr>
          <p:cNvSpPr>
            <a:spLocks noGrp="1"/>
          </p:cNvSpPr>
          <p:nvPr/>
        </p:nvSpPr>
        <p:spPr>
          <a:xfrm>
            <a:off x="3200400" y="283464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A1A2E"/>
                </a:solidFill>
              </a:rPr>
              <a:t>Contextual Memory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8D6BC6F-F74D-441A-A1E6-C82E00785299}"/>
              </a:ext>
            </a:extLst>
          </p:cNvPr>
          <p:cNvSpPr>
            <a:spLocks noGrp="1"/>
          </p:cNvSpPr>
          <p:nvPr/>
        </p:nvSpPr>
        <p:spPr>
          <a:xfrm>
            <a:off x="4206240" y="3246120"/>
            <a:ext cx="640080" cy="27432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A6B994C-A185-4EA7-92A0-BB38801272BA}"/>
              </a:ext>
            </a:extLst>
          </p:cNvPr>
          <p:cNvSpPr>
            <a:spLocks noGrp="1"/>
          </p:cNvSpPr>
          <p:nvPr/>
        </p:nvSpPr>
        <p:spPr>
          <a:xfrm>
            <a:off x="3291840" y="3337560"/>
            <a:ext cx="246888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>
                <a:solidFill>
                  <a:srgbClr val="64748B"/>
                </a:solidFill>
              </a:rPr>
              <a:t>Remembers your conversation so you can ask follow-up questions naturally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4ECF8AC-C70A-4D20-94A6-E8F64B4068AB}"/>
              </a:ext>
            </a:extLst>
          </p:cNvPr>
          <p:cNvSpPr>
            <a:spLocks noGrp="1"/>
          </p:cNvSpPr>
          <p:nvPr/>
        </p:nvSpPr>
        <p:spPr>
          <a:xfrm>
            <a:off x="6035040" y="2148840"/>
            <a:ext cx="2651760" cy="25603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65291AD-A7CB-4B5D-8E52-A4F3DBD10AF9}"/>
              </a:ext>
            </a:extLst>
          </p:cNvPr>
          <p:cNvSpPr>
            <a:spLocks noGrp="1"/>
          </p:cNvSpPr>
          <p:nvPr/>
        </p:nvSpPr>
        <p:spPr>
          <a:xfrm>
            <a:off x="6035040" y="2240280"/>
            <a:ext cx="26517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3200">
                <a:solidFill>
                  <a:srgbClr val="000000"/>
                </a:solidFill>
              </a:rPr>
              <a:t>🌏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E753F6B-F6E3-4666-85CF-02EE6BAFC90C}"/>
              </a:ext>
            </a:extLst>
          </p:cNvPr>
          <p:cNvSpPr>
            <a:spLocks noGrp="1"/>
          </p:cNvSpPr>
          <p:nvPr/>
        </p:nvSpPr>
        <p:spPr>
          <a:xfrm>
            <a:off x="6035040" y="283464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A1A2E"/>
                </a:solidFill>
              </a:rPr>
              <a:t>Multi-Cuisine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5BABBF3-C2E0-414F-9381-367C5C9FF50F}"/>
              </a:ext>
            </a:extLst>
          </p:cNvPr>
          <p:cNvSpPr>
            <a:spLocks noGrp="1"/>
          </p:cNvSpPr>
          <p:nvPr/>
        </p:nvSpPr>
        <p:spPr>
          <a:xfrm>
            <a:off x="7040880" y="3246120"/>
            <a:ext cx="640080" cy="27432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F26FBE4-3255-4A21-BFBC-351A7F7D9E6F}"/>
              </a:ext>
            </a:extLst>
          </p:cNvPr>
          <p:cNvSpPr>
            <a:spLocks noGrp="1"/>
          </p:cNvSpPr>
          <p:nvPr/>
        </p:nvSpPr>
        <p:spPr>
          <a:xfrm>
            <a:off x="6126480" y="3337560"/>
            <a:ext cx="246888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>
                <a:solidFill>
                  <a:srgbClr val="64748B"/>
                </a:solidFill>
              </a:rPr>
              <a:t>Covers Vietnamese, Thai, and Chinese cuisine with 15 videos and 392 knowledge chunks</a:t>
            </a:r>
          </a:p>
        </p:txBody>
      </p:sp>
    </p:spTree>
    <p:extLst>
      <p:ext uri="{BB962C8B-B14F-4D97-AF65-F5344CB8AC3E}">
        <p14:creationId xmlns:p14="http://schemas.microsoft.com/office/powerpoint/2010/main" val="1903572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689042-AC25-420A-A7ED-174621D91E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B54709-79EC-4521-8ABA-EB4118D9B5A6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Technical Architecture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D91AD35-8E92-479E-B11C-FD851A1A05D7}"/>
              </a:ext>
            </a:extLst>
          </p:cNvPr>
          <p:cNvSpPr>
            <a:spLocks noGrp="1"/>
          </p:cNvSpPr>
          <p:nvPr/>
        </p:nvSpPr>
        <p:spPr>
          <a:xfrm>
            <a:off x="274320" y="10972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0F3460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03F6A1-95A8-4EC3-94A9-0E121F8CB119}"/>
              </a:ext>
            </a:extLst>
          </p:cNvPr>
          <p:cNvSpPr>
            <a:spLocks noGrp="1"/>
          </p:cNvSpPr>
          <p:nvPr/>
        </p:nvSpPr>
        <p:spPr>
          <a:xfrm>
            <a:off x="274320" y="1097280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User Question</a:t>
            </a:r>
          </a:p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(Text)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4A7AC7E-B7E9-4C2E-910B-DC037E30C4A7}"/>
              </a:ext>
            </a:extLst>
          </p:cNvPr>
          <p:cNvSpPr>
            <a:spLocks noGrp="1"/>
          </p:cNvSpPr>
          <p:nvPr/>
        </p:nvSpPr>
        <p:spPr>
          <a:xfrm>
            <a:off x="1737360" y="1508760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FB6B403-3353-4F48-909E-18A4BF52CCFA}"/>
              </a:ext>
            </a:extLst>
          </p:cNvPr>
          <p:cNvSpPr>
            <a:spLocks noGrp="1"/>
          </p:cNvSpPr>
          <p:nvPr/>
        </p:nvSpPr>
        <p:spPr>
          <a:xfrm>
            <a:off x="2011680" y="10972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0F3460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21B4515-AAA8-434D-9E2F-88AC72D9B9AF}"/>
              </a:ext>
            </a:extLst>
          </p:cNvPr>
          <p:cNvSpPr>
            <a:spLocks noGrp="1"/>
          </p:cNvSpPr>
          <p:nvPr/>
        </p:nvSpPr>
        <p:spPr>
          <a:xfrm>
            <a:off x="2011680" y="1097280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Streamlit UI</a:t>
            </a:r>
          </a:p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app.py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82DF0F8-6EEF-468B-80E1-ACAC54EF1BF0}"/>
              </a:ext>
            </a:extLst>
          </p:cNvPr>
          <p:cNvSpPr>
            <a:spLocks noGrp="1"/>
          </p:cNvSpPr>
          <p:nvPr/>
        </p:nvSpPr>
        <p:spPr>
          <a:xfrm>
            <a:off x="3474720" y="1508760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465046A-14EF-4F06-AA71-D63459C8E658}"/>
              </a:ext>
            </a:extLst>
          </p:cNvPr>
          <p:cNvSpPr>
            <a:spLocks noGrp="1"/>
          </p:cNvSpPr>
          <p:nvPr/>
        </p:nvSpPr>
        <p:spPr>
          <a:xfrm>
            <a:off x="3749040" y="109728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C5EA2CD-676A-47ED-AA0E-838E3E160540}"/>
              </a:ext>
            </a:extLst>
          </p:cNvPr>
          <p:cNvSpPr>
            <a:spLocks noGrp="1"/>
          </p:cNvSpPr>
          <p:nvPr/>
        </p:nvSpPr>
        <p:spPr>
          <a:xfrm>
            <a:off x="3749040" y="109728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LangGraph</a:t>
            </a:r>
          </a:p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ReAct Agent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2918C61-727E-4140-88E7-2C779A2A927E}"/>
              </a:ext>
            </a:extLst>
          </p:cNvPr>
          <p:cNvSpPr>
            <a:spLocks noGrp="1"/>
          </p:cNvSpPr>
          <p:nvPr/>
        </p:nvSpPr>
        <p:spPr>
          <a:xfrm>
            <a:off x="5394960" y="1508760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A1677AC-FC79-4B4A-9261-708514E1D039}"/>
              </a:ext>
            </a:extLst>
          </p:cNvPr>
          <p:cNvSpPr>
            <a:spLocks noGrp="1"/>
          </p:cNvSpPr>
          <p:nvPr/>
        </p:nvSpPr>
        <p:spPr>
          <a:xfrm>
            <a:off x="5669280" y="10972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0F3460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39133B-1FA8-4CAC-AA3F-68ED05D97679}"/>
              </a:ext>
            </a:extLst>
          </p:cNvPr>
          <p:cNvSpPr>
            <a:spLocks noGrp="1"/>
          </p:cNvSpPr>
          <p:nvPr/>
        </p:nvSpPr>
        <p:spPr>
          <a:xfrm>
            <a:off x="5669280" y="1097280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GPT-4o-mini</a:t>
            </a:r>
          </a:p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9409444-850F-4A54-B937-5F091E24B70A}"/>
              </a:ext>
            </a:extLst>
          </p:cNvPr>
          <p:cNvSpPr>
            <a:spLocks noGrp="1"/>
          </p:cNvSpPr>
          <p:nvPr/>
        </p:nvSpPr>
        <p:spPr>
          <a:xfrm>
            <a:off x="7132320" y="1508760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C62FC01-7009-47D8-B52A-DDE41DB1E8EC}"/>
              </a:ext>
            </a:extLst>
          </p:cNvPr>
          <p:cNvSpPr>
            <a:spLocks noGrp="1"/>
          </p:cNvSpPr>
          <p:nvPr/>
        </p:nvSpPr>
        <p:spPr>
          <a:xfrm>
            <a:off x="7406640" y="10972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980EF03-8DE1-407D-9122-CA36792CF376}"/>
              </a:ext>
            </a:extLst>
          </p:cNvPr>
          <p:cNvSpPr>
            <a:spLocks noGrp="1"/>
          </p:cNvSpPr>
          <p:nvPr/>
        </p:nvSpPr>
        <p:spPr>
          <a:xfrm>
            <a:off x="7406640" y="1097280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Answer +</a:t>
            </a:r>
          </a:p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Food Photo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C0F29AA-DF7D-4409-82A3-2A55C72A105A}"/>
              </a:ext>
            </a:extLst>
          </p:cNvPr>
          <p:cNvSpPr>
            <a:spLocks noGrp="1"/>
          </p:cNvSpPr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F5A623"/>
                </a:solidFill>
              </a:rPr>
              <a:t>4 Agent Tools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C2E4269-F9BF-4424-8BFD-AB1D058D2932}"/>
              </a:ext>
            </a:extLst>
          </p:cNvPr>
          <p:cNvSpPr>
            <a:spLocks noGrp="1"/>
          </p:cNvSpPr>
          <p:nvPr/>
        </p:nvSpPr>
        <p:spPr>
          <a:xfrm>
            <a:off x="274320" y="2651760"/>
            <a:ext cx="2011680" cy="1554480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B7C4BCE-D2F9-43E7-8C86-EADBC1409D61}"/>
              </a:ext>
            </a:extLst>
          </p:cNvPr>
          <p:cNvSpPr>
            <a:spLocks noGrp="1"/>
          </p:cNvSpPr>
          <p:nvPr/>
        </p:nvSpPr>
        <p:spPr>
          <a:xfrm>
            <a:off x="274320" y="2697480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</a:rPr>
              <a:t>🔍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2BFE3E0-29CC-40CB-BACB-7CD3DC0211AE}"/>
              </a:ext>
            </a:extLst>
          </p:cNvPr>
          <p:cNvSpPr>
            <a:spLocks noGrp="1"/>
          </p:cNvSpPr>
          <p:nvPr/>
        </p:nvSpPr>
        <p:spPr>
          <a:xfrm>
            <a:off x="320040" y="31546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E94560"/>
                </a:solidFill>
              </a:rPr>
              <a:t>search_cooking_knowledge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1711609-63A3-4C41-B18A-458D383F6B00}"/>
              </a:ext>
            </a:extLst>
          </p:cNvPr>
          <p:cNvSpPr>
            <a:spLocks noGrp="1"/>
          </p:cNvSpPr>
          <p:nvPr/>
        </p:nvSpPr>
        <p:spPr>
          <a:xfrm>
            <a:off x="320040" y="3474720"/>
            <a:ext cx="19202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>
                <a:solidFill>
                  <a:srgbClr val="94A3B8"/>
                </a:solidFill>
              </a:rPr>
              <a:t>LCEL RAG → ChromaDB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33C5FDD-0A60-4EBA-A917-1743B629EF66}"/>
              </a:ext>
            </a:extLst>
          </p:cNvPr>
          <p:cNvSpPr>
            <a:spLocks noGrp="1"/>
          </p:cNvSpPr>
          <p:nvPr/>
        </p:nvSpPr>
        <p:spPr>
          <a:xfrm>
            <a:off x="2468880" y="2651760"/>
            <a:ext cx="2011680" cy="1554480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42AA92D-6D89-4E44-B270-D0DCE74A6D62}"/>
              </a:ext>
            </a:extLst>
          </p:cNvPr>
          <p:cNvSpPr>
            <a:spLocks noGrp="1"/>
          </p:cNvSpPr>
          <p:nvPr/>
        </p:nvSpPr>
        <p:spPr>
          <a:xfrm>
            <a:off x="2468880" y="2697480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</a:rPr>
              <a:t>📋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B8A12E3-E152-4F12-8BD5-8762F6EC8B59}"/>
              </a:ext>
            </a:extLst>
          </p:cNvPr>
          <p:cNvSpPr>
            <a:spLocks noGrp="1"/>
          </p:cNvSpPr>
          <p:nvPr/>
        </p:nvSpPr>
        <p:spPr>
          <a:xfrm>
            <a:off x="2514600" y="31546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E94560"/>
                </a:solidFill>
              </a:rPr>
              <a:t>summarize_dish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5A3AF69-A136-4AA4-A30A-556E7A829925}"/>
              </a:ext>
            </a:extLst>
          </p:cNvPr>
          <p:cNvSpPr>
            <a:spLocks noGrp="1"/>
          </p:cNvSpPr>
          <p:nvPr/>
        </p:nvSpPr>
        <p:spPr>
          <a:xfrm>
            <a:off x="2514600" y="3474720"/>
            <a:ext cx="19202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>
                <a:solidFill>
                  <a:srgbClr val="94A3B8"/>
                </a:solidFill>
              </a:rPr>
              <a:t>Structured dish overview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E4CDF4B-D52D-4D10-80B4-360C9450FA25}"/>
              </a:ext>
            </a:extLst>
          </p:cNvPr>
          <p:cNvSpPr>
            <a:spLocks noGrp="1"/>
          </p:cNvSpPr>
          <p:nvPr/>
        </p:nvSpPr>
        <p:spPr>
          <a:xfrm>
            <a:off x="4663440" y="2651760"/>
            <a:ext cx="2011680" cy="1554480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AFB4F44-DCDB-4B34-8B82-3EB87101E9F3}"/>
              </a:ext>
            </a:extLst>
          </p:cNvPr>
          <p:cNvSpPr>
            <a:spLocks noGrp="1"/>
          </p:cNvSpPr>
          <p:nvPr/>
        </p:nvSpPr>
        <p:spPr>
          <a:xfrm>
            <a:off x="4663440" y="2697480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</a:rPr>
              <a:t>📥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1A3F330-3BBE-4AA5-990B-23F14DF34257}"/>
              </a:ext>
            </a:extLst>
          </p:cNvPr>
          <p:cNvSpPr>
            <a:spLocks noGrp="1"/>
          </p:cNvSpPr>
          <p:nvPr/>
        </p:nvSpPr>
        <p:spPr>
          <a:xfrm>
            <a:off x="4709160" y="31546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E94560"/>
                </a:solidFill>
              </a:rPr>
              <a:t>ingest_new_video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08AEFBE-DE36-4AF9-B5EF-E697926AD3CE}"/>
              </a:ext>
            </a:extLst>
          </p:cNvPr>
          <p:cNvSpPr>
            <a:spLocks noGrp="1"/>
          </p:cNvSpPr>
          <p:nvPr/>
        </p:nvSpPr>
        <p:spPr>
          <a:xfrm>
            <a:off x="4709160" y="3474720"/>
            <a:ext cx="19202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>
                <a:solidFill>
                  <a:srgbClr val="94A3B8"/>
                </a:solidFill>
              </a:rPr>
              <a:t>Add YouTube video on demand</a:t>
            </a: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3C1786B-E49C-45F9-8FB7-900DF0380C4E}"/>
              </a:ext>
            </a:extLst>
          </p:cNvPr>
          <p:cNvSpPr>
            <a:spLocks noGrp="1"/>
          </p:cNvSpPr>
          <p:nvPr/>
        </p:nvSpPr>
        <p:spPr>
          <a:xfrm>
            <a:off x="6858000" y="2651760"/>
            <a:ext cx="2011680" cy="1554480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0824194-FE4C-48CE-A200-639F9C80FBA2}"/>
              </a:ext>
            </a:extLst>
          </p:cNvPr>
          <p:cNvSpPr>
            <a:spLocks noGrp="1"/>
          </p:cNvSpPr>
          <p:nvPr/>
        </p:nvSpPr>
        <p:spPr>
          <a:xfrm>
            <a:off x="6858000" y="2697480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</a:rPr>
              <a:t>🌐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C0D361A5-EDC5-4269-870E-58E61AB69ABE}"/>
              </a:ext>
            </a:extLst>
          </p:cNvPr>
          <p:cNvSpPr>
            <a:spLocks noGrp="1"/>
          </p:cNvSpPr>
          <p:nvPr/>
        </p:nvSpPr>
        <p:spPr>
          <a:xfrm>
            <a:off x="6903720" y="31546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E94560"/>
                </a:solidFill>
              </a:rPr>
              <a:t>search_web_for_recipe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0F9C397-31D4-4932-8AF1-04A4DCE6FDB9}"/>
              </a:ext>
            </a:extLst>
          </p:cNvPr>
          <p:cNvSpPr>
            <a:spLocks noGrp="1"/>
          </p:cNvSpPr>
          <p:nvPr/>
        </p:nvSpPr>
        <p:spPr>
          <a:xfrm>
            <a:off x="6903720" y="3474720"/>
            <a:ext cx="19202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>
                <a:solidFill>
                  <a:srgbClr val="94A3B8"/>
                </a:solidFill>
              </a:rPr>
              <a:t>DuckDuckGo fallback</a:t>
            </a: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B76ED492-04F0-49C0-BF1E-EADA8423BB4D}"/>
              </a:ext>
            </a:extLst>
          </p:cNvPr>
          <p:cNvSpPr>
            <a:spLocks noGrp="1"/>
          </p:cNvSpPr>
          <p:nvPr/>
        </p:nvSpPr>
        <p:spPr>
          <a:xfrm>
            <a:off x="274320" y="4343400"/>
            <a:ext cx="8595360" cy="457200"/>
          </a:xfrm>
          <a:prstGeom prst="rect">
            <a:avLst/>
          </a:prstGeom>
          <a:solidFill>
            <a:srgbClr val="0F3460"/>
          </a:solidFill>
        </p:spPr>
        <p:txBody>
          <a:bodyPr/>
          <a:lstStyle/>
          <a:p>
            <a:endParaRPr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5A19C85-834B-4210-9F58-225DDDC82F05}"/>
              </a:ext>
            </a:extLst>
          </p:cNvPr>
          <p:cNvSpPr>
            <a:spLocks noGrp="1"/>
          </p:cNvSpPr>
          <p:nvPr/>
        </p:nvSpPr>
        <p:spPr>
          <a:xfrm>
            <a:off x="274320" y="4343400"/>
            <a:ext cx="8595360" cy="457200"/>
          </a:xfrm>
          <a:prstGeom prst="rect">
            <a:avLst/>
          </a:prstGeom>
          <a:noFill/>
        </p:spPr>
        <p:txBody>
          <a:bodyPr wrap="square" lIns="101600" tIns="101600" rIns="101600" bIns="101600" anchor="ctr"/>
          <a:lstStyle/>
          <a:p>
            <a:pPr marL="0" indent="0">
              <a:buNone/>
            </a:pPr>
            <a:r>
              <a:rPr sz="1200">
                <a:solidFill>
                  <a:srgbClr val="FFFFFF"/>
                </a:solidFill>
              </a:rPr>
              <a:t>🧠  MemorySaver (LangGraph) — Persistent conversation memory per session thread</a:t>
            </a:r>
          </a:p>
        </p:txBody>
      </p:sp>
    </p:spTree>
    <p:extLst>
      <p:ext uri="{BB962C8B-B14F-4D97-AF65-F5344CB8AC3E}">
        <p14:creationId xmlns:p14="http://schemas.microsoft.com/office/powerpoint/2010/main" val="659604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701907-665C-4E2D-8A3E-FD4949CCD2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FD3843-FB8B-4FFA-BA89-118483BB896C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1A1A2E"/>
                </a:solidFill>
              </a:rPr>
              <a:t>Dataset &amp; Knowledge Base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C2622B8-2688-4E2A-A63F-73861284F239}"/>
              </a:ext>
            </a:extLst>
          </p:cNvPr>
          <p:cNvSpPr>
            <a:spLocks noGrp="1"/>
          </p:cNvSpPr>
          <p:nvPr/>
        </p:nvSpPr>
        <p:spPr>
          <a:xfrm>
            <a:off x="365760" y="960120"/>
            <a:ext cx="1920240" cy="1097280"/>
          </a:xfrm>
          <a:prstGeom prst="rect">
            <a:avLst/>
          </a:prstGeom>
          <a:solidFill>
            <a:srgbClr val="1A1A2E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FF05E3-4F21-430D-90E1-4476F637EFBE}"/>
              </a:ext>
            </a:extLst>
          </p:cNvPr>
          <p:cNvSpPr>
            <a:spLocks noGrp="1"/>
          </p:cNvSpPr>
          <p:nvPr/>
        </p:nvSpPr>
        <p:spPr>
          <a:xfrm>
            <a:off x="365760" y="100584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600" b="1">
                <a:solidFill>
                  <a:srgbClr val="F5A623"/>
                </a:solidFill>
              </a:rPr>
              <a:t>15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6103543-E789-4E44-99E7-C60C6B874E1C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94A3B8"/>
                </a:solidFill>
              </a:rPr>
              <a:t>YouTube Videos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BA8981C-5281-4263-9144-6FA7943CD096}"/>
              </a:ext>
            </a:extLst>
          </p:cNvPr>
          <p:cNvSpPr>
            <a:spLocks noGrp="1"/>
          </p:cNvSpPr>
          <p:nvPr/>
        </p:nvSpPr>
        <p:spPr>
          <a:xfrm>
            <a:off x="2468880" y="960120"/>
            <a:ext cx="1920240" cy="1097280"/>
          </a:xfrm>
          <a:prstGeom prst="rect">
            <a:avLst/>
          </a:prstGeom>
          <a:solidFill>
            <a:srgbClr val="1A1A2E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4C88BD8-83C6-4A1A-8E76-CF4F8B46E2FD}"/>
              </a:ext>
            </a:extLst>
          </p:cNvPr>
          <p:cNvSpPr>
            <a:spLocks noGrp="1"/>
          </p:cNvSpPr>
          <p:nvPr/>
        </p:nvSpPr>
        <p:spPr>
          <a:xfrm>
            <a:off x="2468880" y="100584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600" b="1">
                <a:solidFill>
                  <a:srgbClr val="F5A623"/>
                </a:solidFill>
              </a:rPr>
              <a:t>392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B82CA63-7EC9-4D4F-AD4A-E1CF9D3952E5}"/>
              </a:ext>
            </a:extLst>
          </p:cNvPr>
          <p:cNvSpPr>
            <a:spLocks noGrp="1"/>
          </p:cNvSpPr>
          <p:nvPr/>
        </p:nvSpPr>
        <p:spPr>
          <a:xfrm>
            <a:off x="2468880" y="16002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94A3B8"/>
                </a:solidFill>
              </a:rPr>
              <a:t>Text Chunks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B854A71-BC9C-4652-BB11-B0736FFCBAC6}"/>
              </a:ext>
            </a:extLst>
          </p:cNvPr>
          <p:cNvSpPr>
            <a:spLocks noGrp="1"/>
          </p:cNvSpPr>
          <p:nvPr/>
        </p:nvSpPr>
        <p:spPr>
          <a:xfrm>
            <a:off x="4572000" y="960120"/>
            <a:ext cx="1920240" cy="1097280"/>
          </a:xfrm>
          <a:prstGeom prst="rect">
            <a:avLst/>
          </a:prstGeom>
          <a:solidFill>
            <a:srgbClr val="1A1A2E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2DEE504-6F62-4BBD-8690-68A99EE9DAD4}"/>
              </a:ext>
            </a:extLst>
          </p:cNvPr>
          <p:cNvSpPr>
            <a:spLocks noGrp="1"/>
          </p:cNvSpPr>
          <p:nvPr/>
        </p:nvSpPr>
        <p:spPr>
          <a:xfrm>
            <a:off x="4572000" y="100584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600" b="1">
                <a:solidFill>
                  <a:srgbClr val="F5A623"/>
                </a:solidFill>
              </a:rPr>
              <a:t>3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08A07CE-5CC3-42B5-A598-8E1EFDC62DDF}"/>
              </a:ext>
            </a:extLst>
          </p:cNvPr>
          <p:cNvSpPr>
            <a:spLocks noGrp="1"/>
          </p:cNvSpPr>
          <p:nvPr/>
        </p:nvSpPr>
        <p:spPr>
          <a:xfrm>
            <a:off x="4572000" y="16002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94A3B8"/>
                </a:solidFill>
              </a:rPr>
              <a:t>Cuisines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BB9D35A-1EEF-44B8-8AFE-CF5E0F6B604F}"/>
              </a:ext>
            </a:extLst>
          </p:cNvPr>
          <p:cNvSpPr>
            <a:spLocks noGrp="1"/>
          </p:cNvSpPr>
          <p:nvPr/>
        </p:nvSpPr>
        <p:spPr>
          <a:xfrm>
            <a:off x="6675120" y="960120"/>
            <a:ext cx="1920240" cy="1097280"/>
          </a:xfrm>
          <a:prstGeom prst="rect">
            <a:avLst/>
          </a:prstGeom>
          <a:solidFill>
            <a:srgbClr val="1A1A2E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9AEF548-ACA1-4859-840A-C35469C083A7}"/>
              </a:ext>
            </a:extLst>
          </p:cNvPr>
          <p:cNvSpPr>
            <a:spLocks noGrp="1"/>
          </p:cNvSpPr>
          <p:nvPr/>
        </p:nvSpPr>
        <p:spPr>
          <a:xfrm>
            <a:off x="6675120" y="100584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600" b="1">
                <a:solidFill>
                  <a:srgbClr val="F5A623"/>
                </a:solidFill>
              </a:rPr>
              <a:t>500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C7473CF-B6A6-4FA3-AA33-46F02559FCAF}"/>
              </a:ext>
            </a:extLst>
          </p:cNvPr>
          <p:cNvSpPr>
            <a:spLocks noGrp="1"/>
          </p:cNvSpPr>
          <p:nvPr/>
        </p:nvSpPr>
        <p:spPr>
          <a:xfrm>
            <a:off x="6675120" y="16002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94A3B8"/>
                </a:solidFill>
              </a:rPr>
              <a:t>Chunk Size</a:t>
            </a:r>
          </a:p>
        </p:txBody>
      </p:sp>
      <p:graphicFrame>
        <p:nvGraphicFramePr>
          <p:cNvPr id="16" name="Table 0"/>
          <p:cNvGraphicFramePr/>
          <p:nvPr/>
        </p:nvGraphicFramePr>
        <p:xfrm>
          <a:off x="365760" y="2240280"/>
          <a:ext cx="8046720" cy="1463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Channel</a:t>
                      </a:r>
                    </a:p>
                  </a:txBody>
                  <a:tcPr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Cuisine</a:t>
                      </a:r>
                    </a:p>
                  </a:txBody>
                  <a:tcPr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Key Dishes</a:t>
                      </a:r>
                    </a:p>
                  </a:txBody>
                  <a:tcPr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Chunks</a:t>
                      </a:r>
                    </a:p>
                  </a:txBody>
                  <a:tcPr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🇻🇳 Helen's Recipes</a:t>
                      </a:r>
                    </a:p>
                  </a:txBody>
                  <a:tcPr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Vietnamese</a:t>
                      </a:r>
                    </a:p>
                  </a:txBody>
                  <a:tcPr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Pho Bo, Bun Bo Hue, Spring Rolls</a:t>
                      </a:r>
                    </a:p>
                  </a:txBody>
                  <a:tcPr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38</a:t>
                      </a:r>
                    </a:p>
                  </a:txBody>
                  <a:tcPr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🇹🇭 Pailin's Kitchen</a:t>
                      </a:r>
                    </a:p>
                  </a:txBody>
                  <a:tcPr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Thai + Chinese</a:t>
                      </a:r>
                    </a:p>
                  </a:txBody>
                  <a:tcPr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Tom Yum, Duck Curry, Pad Thai, Mapo Tofu</a:t>
                      </a:r>
                    </a:p>
                  </a:txBody>
                  <a:tcPr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232</a:t>
                      </a:r>
                    </a:p>
                  </a:txBody>
                  <a:tcPr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🇨🇳 Chinese + v5 add-ons</a:t>
                      </a:r>
                    </a:p>
                  </a:txBody>
                  <a:tcPr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Chinese + Asian</a:t>
                      </a:r>
                    </a:p>
                  </a:txBody>
                  <a:tcPr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Kung Pao, Dumplings, Char Siu + 2 videos</a:t>
                      </a:r>
                    </a:p>
                  </a:txBody>
                  <a:tcPr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122</a:t>
                      </a:r>
                    </a:p>
                  </a:txBody>
                  <a:tcPr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>
            <a:extLst>
              <a:ext uri="{FF2B5EF4-FFF2-40B4-BE49-F238E27FC236}">
                <a16:creationId xmlns:a16="http://schemas.microsoft.com/office/drawing/2014/main" id="{0648BB00-4728-4FB1-8C09-3C665835F289}"/>
              </a:ext>
            </a:extLst>
          </p:cNvPr>
          <p:cNvSpPr>
            <a:spLocks noGrp="1"/>
          </p:cNvSpPr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solidFill>
            <a:srgbClr val="EEF2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8B7304E-4AE8-4CF0-BA6D-FA59034BCFA7}"/>
              </a:ext>
            </a:extLst>
          </p:cNvPr>
          <p:cNvSpPr>
            <a:spLocks noGrp="1"/>
          </p:cNvSpPr>
          <p:nvPr/>
        </p:nvSpPr>
        <p:spPr>
          <a:xfrm>
            <a:off x="548640" y="4114800"/>
            <a:ext cx="804672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1A1A2E"/>
                </a:solidFill>
              </a:rPr>
              <a:t>Chunking Strategy  </a:t>
            </a:r>
            <a:r>
              <a:rPr sz="1200">
                <a:solidFill>
                  <a:srgbClr val="64748B"/>
                </a:solidFill>
              </a:rPr>
              <a:t>RecursiveCharacterTextSplitter · chunk_size=500 · overlap=150 · separators=[sentence, word]</a:t>
            </a:r>
          </a:p>
        </p:txBody>
      </p:sp>
    </p:spTree>
    <p:extLst>
      <p:ext uri="{BB962C8B-B14F-4D97-AF65-F5344CB8AC3E}">
        <p14:creationId xmlns:p14="http://schemas.microsoft.com/office/powerpoint/2010/main" val="957765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CBFA64-E591-45F4-A1F4-6791A84BA7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D9352D-23AE-4147-9A69-FC2D88DB55FE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FFFFF"/>
                </a:solidFill>
              </a:rPr>
              <a:t>Q&amp;A Agent Design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D9DE834-9F51-44CD-863A-C9D797A91663}"/>
              </a:ext>
            </a:extLst>
          </p:cNvPr>
          <p:cNvSpPr>
            <a:spLocks noGrp="1"/>
          </p:cNvSpPr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F5A623"/>
                </a:solidFill>
              </a:rPr>
              <a:t>Architecture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964BB1C-4CA4-41AD-ADBF-97D2D6C29321}"/>
              </a:ext>
            </a:extLst>
          </p:cNvPr>
          <p:cNvSpPr>
            <a:spLocks noGrp="1"/>
          </p:cNvSpPr>
          <p:nvPr/>
        </p:nvSpPr>
        <p:spPr>
          <a:xfrm>
            <a:off x="365760" y="1463040"/>
            <a:ext cx="4114800" cy="685800"/>
          </a:xfrm>
          <a:prstGeom prst="rect">
            <a:avLst/>
          </a:prstGeom>
          <a:solidFill>
            <a:srgbClr val="16213E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4F12EA8-6FCA-4AFE-BE65-824BB1928C62}"/>
              </a:ext>
            </a:extLst>
          </p:cNvPr>
          <p:cNvSpPr>
            <a:spLocks noGrp="1"/>
          </p:cNvSpPr>
          <p:nvPr/>
        </p:nvSpPr>
        <p:spPr>
          <a:xfrm>
            <a:off x="457200" y="1463040"/>
            <a:ext cx="54864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rgbClr val="000000"/>
                </a:solidFill>
              </a:rPr>
              <a:t>⚡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4C47D89-8AC1-4C87-B103-523B2EB8C6CD}"/>
              </a:ext>
            </a:extLst>
          </p:cNvPr>
          <p:cNvSpPr>
            <a:spLocks noGrp="1"/>
          </p:cNvSpPr>
          <p:nvPr/>
        </p:nvSpPr>
        <p:spPr>
          <a:xfrm>
            <a:off x="1005840" y="1508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LangGraph ReAct Agent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5BB78EE-8834-40BE-BB0E-6DA6894DF24A}"/>
              </a:ext>
            </a:extLst>
          </p:cNvPr>
          <p:cNvSpPr>
            <a:spLocks noGrp="1"/>
          </p:cNvSpPr>
          <p:nvPr/>
        </p:nvSpPr>
        <p:spPr>
          <a:xfrm>
            <a:off x="1005840" y="17830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94A3B8"/>
                </a:solidFill>
              </a:rPr>
              <a:t>create_react_agent + MemorySaver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129C14F-8535-48EC-A170-5970820B49ED}"/>
              </a:ext>
            </a:extLst>
          </p:cNvPr>
          <p:cNvSpPr>
            <a:spLocks noGrp="1"/>
          </p:cNvSpPr>
          <p:nvPr/>
        </p:nvSpPr>
        <p:spPr>
          <a:xfrm>
            <a:off x="365760" y="2267712"/>
            <a:ext cx="4114800" cy="685800"/>
          </a:xfrm>
          <a:prstGeom prst="rect">
            <a:avLst/>
          </a:prstGeom>
          <a:solidFill>
            <a:srgbClr val="16213E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EB4B107-1B6F-4290-A67D-A887F952F79A}"/>
              </a:ext>
            </a:extLst>
          </p:cNvPr>
          <p:cNvSpPr>
            <a:spLocks noGrp="1"/>
          </p:cNvSpPr>
          <p:nvPr/>
        </p:nvSpPr>
        <p:spPr>
          <a:xfrm>
            <a:off x="457200" y="2267712"/>
            <a:ext cx="54864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rgbClr val="000000"/>
                </a:solidFill>
              </a:rPr>
              <a:t>🔗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AE65DFD-40BC-49D0-AB11-B0CD196F8E4C}"/>
              </a:ext>
            </a:extLst>
          </p:cNvPr>
          <p:cNvSpPr>
            <a:spLocks noGrp="1"/>
          </p:cNvSpPr>
          <p:nvPr/>
        </p:nvSpPr>
        <p:spPr>
          <a:xfrm>
            <a:off x="1005840" y="231343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LCEL RAG Chain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3E504D2-D800-4572-8483-A383159401D9}"/>
              </a:ext>
            </a:extLst>
          </p:cNvPr>
          <p:cNvSpPr>
            <a:spLocks noGrp="1"/>
          </p:cNvSpPr>
          <p:nvPr/>
        </p:nvSpPr>
        <p:spPr>
          <a:xfrm>
            <a:off x="1005840" y="258775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94A3B8"/>
                </a:solidFill>
              </a:rPr>
              <a:t>retriever | prompt | llm | StrOutputParser()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A04E982-A123-4A70-9601-3BB9FC24DCC3}"/>
              </a:ext>
            </a:extLst>
          </p:cNvPr>
          <p:cNvSpPr>
            <a:spLocks noGrp="1"/>
          </p:cNvSpPr>
          <p:nvPr/>
        </p:nvSpPr>
        <p:spPr>
          <a:xfrm>
            <a:off x="365760" y="3072384"/>
            <a:ext cx="4114800" cy="685800"/>
          </a:xfrm>
          <a:prstGeom prst="rect">
            <a:avLst/>
          </a:prstGeom>
          <a:solidFill>
            <a:srgbClr val="16213E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2EED050-7D5D-44F7-AB11-F90991864CEA}"/>
              </a:ext>
            </a:extLst>
          </p:cNvPr>
          <p:cNvSpPr>
            <a:spLocks noGrp="1"/>
          </p:cNvSpPr>
          <p:nvPr/>
        </p:nvSpPr>
        <p:spPr>
          <a:xfrm>
            <a:off x="457200" y="3072384"/>
            <a:ext cx="54864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rgbClr val="000000"/>
                </a:solidFill>
              </a:rPr>
              <a:t>🧠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49AC4F9-EEDF-473F-ACA9-50E69FEE49F7}"/>
              </a:ext>
            </a:extLst>
          </p:cNvPr>
          <p:cNvSpPr>
            <a:spLocks noGrp="1"/>
          </p:cNvSpPr>
          <p:nvPr/>
        </p:nvSpPr>
        <p:spPr>
          <a:xfrm>
            <a:off x="1005840" y="3118104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Conversation Memory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46FB255-048D-43F9-8A58-BFBDD88BF004}"/>
              </a:ext>
            </a:extLst>
          </p:cNvPr>
          <p:cNvSpPr>
            <a:spLocks noGrp="1"/>
          </p:cNvSpPr>
          <p:nvPr/>
        </p:nvSpPr>
        <p:spPr>
          <a:xfrm>
            <a:off x="1005840" y="3392424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94A3B8"/>
                </a:solidFill>
              </a:rPr>
              <a:t>RunnableWithMessageHistory + trim_messages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12D70A1-BADA-426F-9AD1-B8D7EA1A4163}"/>
              </a:ext>
            </a:extLst>
          </p:cNvPr>
          <p:cNvSpPr>
            <a:spLocks noGrp="1"/>
          </p:cNvSpPr>
          <p:nvPr/>
        </p:nvSpPr>
        <p:spPr>
          <a:xfrm>
            <a:off x="365760" y="3877056"/>
            <a:ext cx="4114800" cy="685800"/>
          </a:xfrm>
          <a:prstGeom prst="rect">
            <a:avLst/>
          </a:prstGeom>
          <a:solidFill>
            <a:srgbClr val="16213E"/>
          </a:solidFill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87323A5-8E79-4AAD-9868-7149E1A4162C}"/>
              </a:ext>
            </a:extLst>
          </p:cNvPr>
          <p:cNvSpPr>
            <a:spLocks noGrp="1"/>
          </p:cNvSpPr>
          <p:nvPr/>
        </p:nvSpPr>
        <p:spPr>
          <a:xfrm>
            <a:off x="457200" y="3877056"/>
            <a:ext cx="54864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rgbClr val="000000"/>
                </a:solidFill>
              </a:rPr>
              <a:t>🎯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40BC613-7CA1-44DE-86CF-25D801807BA5}"/>
              </a:ext>
            </a:extLst>
          </p:cNvPr>
          <p:cNvSpPr>
            <a:spLocks noGrp="1"/>
          </p:cNvSpPr>
          <p:nvPr/>
        </p:nvSpPr>
        <p:spPr>
          <a:xfrm>
            <a:off x="1005840" y="392277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Vector Retrieval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415D070-D1F1-4179-A78E-88E3845EB165}"/>
              </a:ext>
            </a:extLst>
          </p:cNvPr>
          <p:cNvSpPr>
            <a:spLocks noGrp="1"/>
          </p:cNvSpPr>
          <p:nvPr/>
        </p:nvSpPr>
        <p:spPr>
          <a:xfrm>
            <a:off x="1005840" y="419709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94A3B8"/>
                </a:solidFill>
              </a:rPr>
              <a:t>ChromaDB similarity search, k=4 chunks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8492983-9737-4370-93E5-43A0DF018B56}"/>
              </a:ext>
            </a:extLst>
          </p:cNvPr>
          <p:cNvSpPr>
            <a:spLocks noGrp="1"/>
          </p:cNvSpPr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F5A623"/>
                </a:solidFill>
              </a:rPr>
              <a:t>PromptTemplate (v5)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9605322-ED2B-40D4-BDC5-7118B994FE2A}"/>
              </a:ext>
            </a:extLst>
          </p:cNvPr>
          <p:cNvSpPr>
            <a:spLocks noGrp="1"/>
          </p:cNvSpPr>
          <p:nvPr/>
        </p:nvSpPr>
        <p:spPr>
          <a:xfrm>
            <a:off x="4754880" y="1463040"/>
            <a:ext cx="4114800" cy="3291840"/>
          </a:xfrm>
          <a:prstGeom prst="rect">
            <a:avLst/>
          </a:prstGeom>
          <a:solidFill>
            <a:srgbClr val="16213E"/>
          </a:solidFill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5EAFF20-FC96-418D-BA90-09868E2DA0B9}"/>
              </a:ext>
            </a:extLst>
          </p:cNvPr>
          <p:cNvSpPr>
            <a:spLocks noGrp="1"/>
          </p:cNvSpPr>
          <p:nvPr/>
        </p:nvSpPr>
        <p:spPr>
          <a:xfrm>
            <a:off x="4937760" y="155448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E94560"/>
                </a:solidFill>
              </a:rPr>
              <a:t>You are PhoBuddy 🍜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597C033-9ED6-4678-AD18-CFE2395E4AB5}"/>
              </a:ext>
            </a:extLst>
          </p:cNvPr>
          <p:cNvSpPr>
            <a:spLocks noGrp="1"/>
          </p:cNvSpPr>
          <p:nvPr/>
        </p:nvSpPr>
        <p:spPr>
          <a:xfrm>
            <a:off x="4937760" y="178308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94A3B8"/>
                </a:solidFill>
              </a:rPr>
              <a:t> 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B4E53C3-8693-40B3-A359-BEDB7B8AA1CA}"/>
              </a:ext>
            </a:extLst>
          </p:cNvPr>
          <p:cNvSpPr>
            <a:spLocks noGrp="1"/>
          </p:cNvSpPr>
          <p:nvPr/>
        </p:nvSpPr>
        <p:spPr>
          <a:xfrm>
            <a:off x="4937760" y="201168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F5A623"/>
                </a:solidFill>
              </a:rPr>
              <a:t>RULES: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69909CD-1981-4924-AD1A-818A6DB6A906}"/>
              </a:ext>
            </a:extLst>
          </p:cNvPr>
          <p:cNvSpPr>
            <a:spLocks noGrp="1"/>
          </p:cNvSpPr>
          <p:nvPr/>
        </p:nvSpPr>
        <p:spPr>
          <a:xfrm>
            <a:off x="4937760" y="224028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FFFFFF"/>
                </a:solidFill>
              </a:rPr>
              <a:t>• Answer ONLY from context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9BD4B3E-E1E9-487F-8847-5DB70F896FC6}"/>
              </a:ext>
            </a:extLst>
          </p:cNvPr>
          <p:cNvSpPr>
            <a:spLocks noGrp="1"/>
          </p:cNvSpPr>
          <p:nvPr/>
        </p:nvSpPr>
        <p:spPr>
          <a:xfrm>
            <a:off x="4937760" y="246888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FFFFFF"/>
                </a:solidFill>
              </a:rPr>
              <a:t>• Never mention images/photos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1A4B362-6E0E-412E-934C-D0394E037C9B}"/>
              </a:ext>
            </a:extLst>
          </p:cNvPr>
          <p:cNvSpPr>
            <a:spLocks noGrp="1"/>
          </p:cNvSpPr>
          <p:nvPr/>
        </p:nvSpPr>
        <p:spPr>
          <a:xfrm>
            <a:off x="4937760" y="269748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FFFFFF"/>
                </a:solidFill>
              </a:rPr>
              <a:t>• Cite: 'According to [channel]...'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A136DFE-FCC7-4F97-8541-479FBC067559}"/>
              </a:ext>
            </a:extLst>
          </p:cNvPr>
          <p:cNvSpPr>
            <a:spLocks noGrp="1"/>
          </p:cNvSpPr>
          <p:nvPr/>
        </p:nvSpPr>
        <p:spPr>
          <a:xfrm>
            <a:off x="4937760" y="292608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FFFFFF"/>
                </a:solidFill>
              </a:rPr>
              <a:t>• If not in DB → NOT_IN_DATABASE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A1B6E0A-8524-4C99-AC5E-01BD3477E78D}"/>
              </a:ext>
            </a:extLst>
          </p:cNvPr>
          <p:cNvSpPr>
            <a:spLocks noGrp="1"/>
          </p:cNvSpPr>
          <p:nvPr/>
        </p:nvSpPr>
        <p:spPr>
          <a:xfrm>
            <a:off x="4937760" y="315468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94A3B8"/>
                </a:solidFill>
              </a:rPr>
              <a:t> 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50A00ED-D7BC-488C-B823-0E4775D44D83}"/>
              </a:ext>
            </a:extLst>
          </p:cNvPr>
          <p:cNvSpPr>
            <a:spLocks noGrp="1"/>
          </p:cNvSpPr>
          <p:nvPr/>
        </p:nvSpPr>
        <p:spPr>
          <a:xfrm>
            <a:off x="4937760" y="338328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F5A623"/>
                </a:solidFill>
              </a:rPr>
              <a:t>TOOLS:</a:t>
            </a: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5314666-7155-4AC7-8247-69BAFB5F54D7}"/>
              </a:ext>
            </a:extLst>
          </p:cNvPr>
          <p:cNvSpPr>
            <a:spLocks noGrp="1"/>
          </p:cNvSpPr>
          <p:nvPr/>
        </p:nvSpPr>
        <p:spPr>
          <a:xfrm>
            <a:off x="4937760" y="361188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FFFFFF"/>
                </a:solidFill>
              </a:rPr>
              <a:t>• summarize_dish → 'tell me about X'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03806B9-C4C4-4F3B-815D-F88D0E572A3F}"/>
              </a:ext>
            </a:extLst>
          </p:cNvPr>
          <p:cNvSpPr>
            <a:spLocks noGrp="1"/>
          </p:cNvSpPr>
          <p:nvPr/>
        </p:nvSpPr>
        <p:spPr>
          <a:xfrm>
            <a:off x="4937760" y="384048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FFFFFF"/>
                </a:solidFill>
              </a:rPr>
              <a:t>• search_cooking_knowledge → specific Q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A2D304E-D96E-4229-A3CF-97E4E6FE4491}"/>
              </a:ext>
            </a:extLst>
          </p:cNvPr>
          <p:cNvSpPr>
            <a:spLocks noGrp="1"/>
          </p:cNvSpPr>
          <p:nvPr/>
        </p:nvSpPr>
        <p:spPr>
          <a:xfrm>
            <a:off x="4937760" y="406908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FFFFFF"/>
                </a:solidFill>
              </a:rPr>
              <a:t>• search_web_for_recipe → fallback</a:t>
            </a: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77950B6-EA58-408D-809D-03EE66A24505}"/>
              </a:ext>
            </a:extLst>
          </p:cNvPr>
          <p:cNvSpPr>
            <a:spLocks noGrp="1"/>
          </p:cNvSpPr>
          <p:nvPr/>
        </p:nvSpPr>
        <p:spPr>
          <a:xfrm>
            <a:off x="4937760" y="429768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FFFFFF"/>
                </a:solidFill>
              </a:rPr>
              <a:t>• ingest_new_video → YouTube URL</a:t>
            </a:r>
          </a:p>
        </p:txBody>
      </p:sp>
    </p:spTree>
    <p:extLst>
      <p:ext uri="{BB962C8B-B14F-4D97-AF65-F5344CB8AC3E}">
        <p14:creationId xmlns:p14="http://schemas.microsoft.com/office/powerpoint/2010/main" val="1106643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77F4FD-719D-4C4E-A4D6-0C8B437AB6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39D74A-FA7F-4E11-81D7-C6A140AD1E52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1A1A2E"/>
                </a:solidFill>
              </a:rPr>
              <a:t>Tools &amp; Integrations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72AE5EE-0617-425E-B3E0-0F9770B28482}"/>
              </a:ext>
            </a:extLst>
          </p:cNvPr>
          <p:cNvSpPr>
            <a:spLocks noGrp="1"/>
          </p:cNvSpPr>
          <p:nvPr/>
        </p:nvSpPr>
        <p:spPr>
          <a:xfrm>
            <a:off x="365760" y="1005840"/>
            <a:ext cx="4114800" cy="1920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A30E19-158A-4ABD-B9E2-AADC59B5E9A9}"/>
              </a:ext>
            </a:extLst>
          </p:cNvPr>
          <p:cNvSpPr>
            <a:spLocks noGrp="1"/>
          </p:cNvSpPr>
          <p:nvPr/>
        </p:nvSpPr>
        <p:spPr>
          <a:xfrm>
            <a:off x="365760" y="1005840"/>
            <a:ext cx="73152" cy="1920240"/>
          </a:xfrm>
          <a:prstGeom prst="rect">
            <a:avLst/>
          </a:prstGeom>
          <a:solidFill>
            <a:srgbClr val="0F3460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EDD544-970A-4E76-8F85-1E24BED8C999}"/>
              </a:ext>
            </a:extLst>
          </p:cNvPr>
          <p:cNvSpPr>
            <a:spLocks noGrp="1"/>
          </p:cNvSpPr>
          <p:nvPr/>
        </p:nvSpPr>
        <p:spPr>
          <a:xfrm>
            <a:off x="502920" y="109728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</a:rPr>
              <a:t>🗄️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2F38464-599A-4DF2-81AC-9A72848E42D4}"/>
              </a:ext>
            </a:extLst>
          </p:cNvPr>
          <p:cNvSpPr>
            <a:spLocks noGrp="1"/>
          </p:cNvSpPr>
          <p:nvPr/>
        </p:nvSpPr>
        <p:spPr>
          <a:xfrm>
            <a:off x="1188720" y="1097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A1A2E"/>
                </a:solidFill>
              </a:rPr>
              <a:t>ChromaDB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2ABEDD-EC2F-4AC7-986D-CB5CC46596BB}"/>
              </a:ext>
            </a:extLst>
          </p:cNvPr>
          <p:cNvSpPr>
            <a:spLocks noGrp="1"/>
          </p:cNvSpPr>
          <p:nvPr/>
        </p:nvSpPr>
        <p:spPr>
          <a:xfrm>
            <a:off x="1188720" y="14630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i="1">
                <a:solidFill>
                  <a:srgbClr val="0F3460"/>
                </a:solidFill>
              </a:rPr>
              <a:t>Vector Database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40131C1-DB2C-417A-BDA7-645421D6D699}"/>
              </a:ext>
            </a:extLst>
          </p:cNvPr>
          <p:cNvSpPr>
            <a:spLocks noGrp="1"/>
          </p:cNvSpPr>
          <p:nvPr/>
        </p:nvSpPr>
        <p:spPr>
          <a:xfrm>
            <a:off x="502920" y="187452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• Local persistent vector store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61D17AF-B817-4200-9ADB-64B9CFF6845B}"/>
              </a:ext>
            </a:extLst>
          </p:cNvPr>
          <p:cNvSpPr>
            <a:spLocks noGrp="1"/>
          </p:cNvSpPr>
          <p:nvPr/>
        </p:nvSpPr>
        <p:spPr>
          <a:xfrm>
            <a:off x="502920" y="21945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• 392 chunks, text-embedding-3-small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BFE0B63-0C25-4A12-90C4-45170468663F}"/>
              </a:ext>
            </a:extLst>
          </p:cNvPr>
          <p:cNvSpPr>
            <a:spLocks noGrp="1"/>
          </p:cNvSpPr>
          <p:nvPr/>
        </p:nvSpPr>
        <p:spPr>
          <a:xfrm>
            <a:off x="502920" y="25146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• Similarity search, k=4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5459915-3D7C-45E8-90D0-27BA361A8F45}"/>
              </a:ext>
            </a:extLst>
          </p:cNvPr>
          <p:cNvSpPr>
            <a:spLocks noGrp="1"/>
          </p:cNvSpPr>
          <p:nvPr/>
        </p:nvSpPr>
        <p:spPr>
          <a:xfrm>
            <a:off x="4754880" y="1005840"/>
            <a:ext cx="4114800" cy="1920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909C6DA-C0FC-40D2-AFC3-3E6029C478E8}"/>
              </a:ext>
            </a:extLst>
          </p:cNvPr>
          <p:cNvSpPr>
            <a:spLocks noGrp="1"/>
          </p:cNvSpPr>
          <p:nvPr/>
        </p:nvSpPr>
        <p:spPr>
          <a:xfrm>
            <a:off x="4754880" y="1005840"/>
            <a:ext cx="73152" cy="192024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79554BD-CA62-432B-860D-8F57CE6C5B6D}"/>
              </a:ext>
            </a:extLst>
          </p:cNvPr>
          <p:cNvSpPr>
            <a:spLocks noGrp="1"/>
          </p:cNvSpPr>
          <p:nvPr/>
        </p:nvSpPr>
        <p:spPr>
          <a:xfrm>
            <a:off x="4892040" y="109728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</a:rPr>
              <a:t>🌐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0647680-BCEE-4CA2-880D-D8A8B87A0956}"/>
              </a:ext>
            </a:extLst>
          </p:cNvPr>
          <p:cNvSpPr>
            <a:spLocks noGrp="1"/>
          </p:cNvSpPr>
          <p:nvPr/>
        </p:nvSpPr>
        <p:spPr>
          <a:xfrm>
            <a:off x="5577840" y="1097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A1A2E"/>
                </a:solidFill>
              </a:rPr>
              <a:t>DuckDuckGo Search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5A83FEF-D88A-47D1-B59F-68C53207F520}"/>
              </a:ext>
            </a:extLst>
          </p:cNvPr>
          <p:cNvSpPr>
            <a:spLocks noGrp="1"/>
          </p:cNvSpPr>
          <p:nvPr/>
        </p:nvSpPr>
        <p:spPr>
          <a:xfrm>
            <a:off x="5577840" y="14630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i="1">
                <a:solidFill>
                  <a:srgbClr val="1A1A2E"/>
                </a:solidFill>
              </a:rPr>
              <a:t>Web Search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429A2F9-68C8-4537-BB64-13B21CB04CAC}"/>
              </a:ext>
            </a:extLst>
          </p:cNvPr>
          <p:cNvSpPr>
            <a:spLocks noGrp="1"/>
          </p:cNvSpPr>
          <p:nvPr/>
        </p:nvSpPr>
        <p:spPr>
          <a:xfrm>
            <a:off x="4892040" y="187452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• Fallback when NOT_IN_DATABASE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71C0243-02C8-4C50-AFCF-75EBAEC2DE90}"/>
              </a:ext>
            </a:extLst>
          </p:cNvPr>
          <p:cNvSpPr>
            <a:spLocks noGrp="1"/>
          </p:cNvSpPr>
          <p:nvPr/>
        </p:nvSpPr>
        <p:spPr>
          <a:xfrm>
            <a:off x="4892040" y="21945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• Triggered by RAG signal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0AEC21A-703C-4155-A74E-43B83E5441CC}"/>
              </a:ext>
            </a:extLst>
          </p:cNvPr>
          <p:cNvSpPr>
            <a:spLocks noGrp="1"/>
          </p:cNvSpPr>
          <p:nvPr/>
        </p:nvSpPr>
        <p:spPr>
          <a:xfrm>
            <a:off x="4892040" y="25146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• LangChain DuckDuckGoSearchRun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632310A-F9ED-4C36-BFF2-1EDCC7536B3E}"/>
              </a:ext>
            </a:extLst>
          </p:cNvPr>
          <p:cNvSpPr>
            <a:spLocks noGrp="1"/>
          </p:cNvSpPr>
          <p:nvPr/>
        </p:nvSpPr>
        <p:spPr>
          <a:xfrm>
            <a:off x="365760" y="3108960"/>
            <a:ext cx="4114800" cy="1920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6BB7C33-CFF9-442E-90D1-1DA35D7869B9}"/>
              </a:ext>
            </a:extLst>
          </p:cNvPr>
          <p:cNvSpPr>
            <a:spLocks noGrp="1"/>
          </p:cNvSpPr>
          <p:nvPr/>
        </p:nvSpPr>
        <p:spPr>
          <a:xfrm>
            <a:off x="365760" y="3108960"/>
            <a:ext cx="73152" cy="1920240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4A89CC4-BFD1-4161-B327-B3AD15767F04}"/>
              </a:ext>
            </a:extLst>
          </p:cNvPr>
          <p:cNvSpPr>
            <a:spLocks noGrp="1"/>
          </p:cNvSpPr>
          <p:nvPr/>
        </p:nvSpPr>
        <p:spPr>
          <a:xfrm>
            <a:off x="502920" y="320040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</a:rPr>
              <a:t>📊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FAFBEE1-AD7E-4C11-A115-8CDA6FBF8874}"/>
              </a:ext>
            </a:extLst>
          </p:cNvPr>
          <p:cNvSpPr>
            <a:spLocks noGrp="1"/>
          </p:cNvSpPr>
          <p:nvPr/>
        </p:nvSpPr>
        <p:spPr>
          <a:xfrm>
            <a:off x="118872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A1A2E"/>
                </a:solidFill>
              </a:rPr>
              <a:t>LangSmith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BCB2681-0476-4345-AA03-F58F699840E6}"/>
              </a:ext>
            </a:extLst>
          </p:cNvPr>
          <p:cNvSpPr>
            <a:spLocks noGrp="1"/>
          </p:cNvSpPr>
          <p:nvPr/>
        </p:nvSpPr>
        <p:spPr>
          <a:xfrm>
            <a:off x="1188720" y="35661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i="1">
                <a:solidFill>
                  <a:srgbClr val="E94560"/>
                </a:solidFill>
              </a:rPr>
              <a:t>Tracing &amp; Evaluation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F18EF0F-7F27-441E-B1D0-A9604499C610}"/>
              </a:ext>
            </a:extLst>
          </p:cNvPr>
          <p:cNvSpPr>
            <a:spLocks noGrp="1"/>
          </p:cNvSpPr>
          <p:nvPr/>
        </p:nvSpPr>
        <p:spPr>
          <a:xfrm>
            <a:off x="502920" y="397764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• Full conversation tracing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7FE6567-DA63-42F1-8E62-53462D0049B0}"/>
              </a:ext>
            </a:extLst>
          </p:cNvPr>
          <p:cNvSpPr>
            <a:spLocks noGrp="1"/>
          </p:cNvSpPr>
          <p:nvPr/>
        </p:nvSpPr>
        <p:spPr>
          <a:xfrm>
            <a:off x="502920" y="429768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• LLM-as-judge evaluators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E10522A-7900-4389-8642-9CACE8ECFCDF}"/>
              </a:ext>
            </a:extLst>
          </p:cNvPr>
          <p:cNvSpPr>
            <a:spLocks noGrp="1"/>
          </p:cNvSpPr>
          <p:nvPr/>
        </p:nvSpPr>
        <p:spPr>
          <a:xfrm>
            <a:off x="502920" y="461772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• Experiment comparison across v1→v5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731DD9B-6E94-4CEA-AEDB-29951A8C729A}"/>
              </a:ext>
            </a:extLst>
          </p:cNvPr>
          <p:cNvSpPr>
            <a:spLocks noGrp="1"/>
          </p:cNvSpPr>
          <p:nvPr/>
        </p:nvSpPr>
        <p:spPr>
          <a:xfrm>
            <a:off x="4754880" y="3108960"/>
            <a:ext cx="4114800" cy="1920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8835A5D-0F0A-4C5E-ABD9-FADFFC7AD027}"/>
              </a:ext>
            </a:extLst>
          </p:cNvPr>
          <p:cNvSpPr>
            <a:spLocks noGrp="1"/>
          </p:cNvSpPr>
          <p:nvPr/>
        </p:nvSpPr>
        <p:spPr>
          <a:xfrm>
            <a:off x="4754880" y="3108960"/>
            <a:ext cx="73152" cy="1920240"/>
          </a:xfrm>
          <a:prstGeom prst="rect">
            <a:avLst/>
          </a:prstGeom>
          <a:solidFill>
            <a:srgbClr val="0F9D58"/>
          </a:solidFill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F20E033-390D-4208-A004-0B21919C7B00}"/>
              </a:ext>
            </a:extLst>
          </p:cNvPr>
          <p:cNvSpPr>
            <a:spLocks noGrp="1"/>
          </p:cNvSpPr>
          <p:nvPr/>
        </p:nvSpPr>
        <p:spPr>
          <a:xfrm>
            <a:off x="4892040" y="320040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</a:rPr>
              <a:t>📸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36EF8B8-A43D-43A2-9D2A-7C263FA791C8}"/>
              </a:ext>
            </a:extLst>
          </p:cNvPr>
          <p:cNvSpPr>
            <a:spLocks noGrp="1"/>
          </p:cNvSpPr>
          <p:nvPr/>
        </p:nvSpPr>
        <p:spPr>
          <a:xfrm>
            <a:off x="557784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A1A2E"/>
                </a:solidFill>
              </a:rPr>
              <a:t>Unsplash API</a:t>
            </a: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65F11C4-98A0-4773-A730-D389BA7EE85F}"/>
              </a:ext>
            </a:extLst>
          </p:cNvPr>
          <p:cNvSpPr>
            <a:spLocks noGrp="1"/>
          </p:cNvSpPr>
          <p:nvPr/>
        </p:nvSpPr>
        <p:spPr>
          <a:xfrm>
            <a:off x="5577840" y="35661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i="1">
                <a:solidFill>
                  <a:srgbClr val="0F9D58"/>
                </a:solidFill>
              </a:rPr>
              <a:t>Food Photography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1F6F21B-C437-47D8-B3B5-9601BB5F617B}"/>
              </a:ext>
            </a:extLst>
          </p:cNvPr>
          <p:cNvSpPr>
            <a:spLocks noGrp="1"/>
          </p:cNvSpPr>
          <p:nvPr/>
        </p:nvSpPr>
        <p:spPr>
          <a:xfrm>
            <a:off x="4892040" y="397764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• Auto-matched via LLM keyword extraction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24FF110-DFBB-4D11-8CEB-4E456000197D}"/>
              </a:ext>
            </a:extLst>
          </p:cNvPr>
          <p:cNvSpPr>
            <a:spLocks noGrp="1"/>
          </p:cNvSpPr>
          <p:nvPr/>
        </p:nvSpPr>
        <p:spPr>
          <a:xfrm>
            <a:off x="4892040" y="429768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• YouTube thumbnails for known dishes</a:t>
            </a: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836FAFD0-5DE6-42F9-9229-334A0EAEE802}"/>
              </a:ext>
            </a:extLst>
          </p:cNvPr>
          <p:cNvSpPr>
            <a:spLocks noGrp="1"/>
          </p:cNvSpPr>
          <p:nvPr/>
        </p:nvSpPr>
        <p:spPr>
          <a:xfrm>
            <a:off x="4892040" y="461772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• Unsplash fallback for other foods</a:t>
            </a: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99E97371-9576-4A7D-B3ED-F9C4B8EA778B}"/>
              </a:ext>
            </a:extLst>
          </p:cNvPr>
          <p:cNvSpPr>
            <a:spLocks noGrp="1"/>
          </p:cNvSpPr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EEF2FF"/>
          </a:solidFill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2D1826A-C94C-4CD0-9F3C-CEA9AD01E951}"/>
              </a:ext>
            </a:extLst>
          </p:cNvPr>
          <p:cNvSpPr>
            <a:spLocks noGrp="1"/>
          </p:cNvSpPr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🌐  web search fallback (DuckDuckGo) activated when NOT_IN_DATABASE signal returned from RAG chain</a:t>
            </a:r>
          </a:p>
        </p:txBody>
      </p:sp>
    </p:spTree>
    <p:extLst>
      <p:ext uri="{BB962C8B-B14F-4D97-AF65-F5344CB8AC3E}">
        <p14:creationId xmlns:p14="http://schemas.microsoft.com/office/powerpoint/2010/main" val="505879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A251FC-C77B-4BF8-AC4F-49FBD835C9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D63847-0192-44E9-A88E-C43D7EB49CBC}"/>
              </a:ext>
            </a:extLst>
          </p:cNvPr>
          <p:cNvSpPr>
            <a:spLocks noGrp="1"/>
          </p:cNvSpPr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</a:rPr>
              <a:t>Evaluation — 5 Iterations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68D95D-FA58-4B27-8C78-7655A8D001C3}"/>
              </a:ext>
            </a:extLst>
          </p:cNvPr>
          <p:cNvSpPr>
            <a:spLocks noGrp="1"/>
          </p:cNvSpPr>
          <p:nvPr/>
        </p:nvSpPr>
        <p:spPr>
          <a:xfrm>
            <a:off x="274320" y="7498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F5A623"/>
                </a:solidFill>
              </a:rPr>
              <a:t>Answer Correctness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0E3566-2D63-45FF-A1CF-4F8F41E1AB4B}"/>
              </a:ext>
            </a:extLst>
          </p:cNvPr>
          <p:cNvSpPr>
            <a:spLocks noGrp="1"/>
          </p:cNvSpPr>
          <p:nvPr/>
        </p:nvSpPr>
        <p:spPr>
          <a:xfrm>
            <a:off x="3200400" y="7498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F5A623"/>
                </a:solidFill>
              </a:rPr>
              <a:t>Groundedness Score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377EF02-CAC3-4AA9-BAF9-BC54C9CC9371}"/>
              </a:ext>
            </a:extLst>
          </p:cNvPr>
          <p:cNvSpPr>
            <a:spLocks noGrp="1"/>
          </p:cNvSpPr>
          <p:nvPr/>
        </p:nvSpPr>
        <p:spPr>
          <a:xfrm>
            <a:off x="6126480" y="7498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F5A623"/>
                </a:solidFill>
              </a:rPr>
              <a:t>ROUGE-1</a:t>
            </a:r>
          </a:p>
        </p:txBody>
      </p:sp>
      <p:graphicFrame>
        <p:nvGraphicFramePr>
          <p:cNvPr id="7" name="Chart 0"/>
          <p:cNvGraphicFramePr/>
          <p:nvPr/>
        </p:nvGraphicFramePr>
        <p:xfrm>
          <a:off x="274320" y="914400"/>
          <a:ext cx="2743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3200400" y="914400"/>
          <a:ext cx="2743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2"/>
          <p:cNvGraphicFramePr/>
          <p:nvPr/>
        </p:nvGraphicFramePr>
        <p:xfrm>
          <a:off x="6126480" y="914400"/>
          <a:ext cx="2743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>
            <a:extLst>
              <a:ext uri="{FF2B5EF4-FFF2-40B4-BE49-F238E27FC236}">
                <a16:creationId xmlns:a16="http://schemas.microsoft.com/office/drawing/2014/main" id="{E00B8872-EC83-420D-828A-F52093C95ED2}"/>
              </a:ext>
            </a:extLst>
          </p:cNvPr>
          <p:cNvSpPr>
            <a:spLocks noGrp="1"/>
          </p:cNvSpPr>
          <p:nvPr/>
        </p:nvSpPr>
        <p:spPr>
          <a:xfrm>
            <a:off x="274320" y="3566160"/>
            <a:ext cx="8595360" cy="1371600"/>
          </a:xfrm>
          <a:prstGeom prst="rect">
            <a:avLst/>
          </a:prstGeom>
          <a:solidFill>
            <a:srgbClr val="16213E"/>
          </a:solidFill>
        </p:spPr>
        <p:txBody>
          <a:bodyPr/>
          <a:lstStyle/>
          <a:p>
            <a:endParaRPr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B769EFB3-7D3E-4D89-9344-3AF0D070B7E1}"/>
              </a:ext>
            </a:extLst>
          </p:cNvPr>
          <p:cNvSpPr>
            <a:spLocks noGrp="1"/>
          </p:cNvSpPr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5A623"/>
                </a:solidFill>
              </a:rPr>
              <a:t>🤖  Giskard Auto-Evaluation (v4) — 20 auto-generated questions from knowledge base</a:t>
            </a: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790B2684-1A1B-4150-8BAE-29CB8058CC5D}"/>
              </a:ext>
            </a:extLst>
          </p:cNvPr>
          <p:cNvSpPr>
            <a:spLocks noGrp="1"/>
          </p:cNvSpPr>
          <p:nvPr/>
        </p:nvSpPr>
        <p:spPr>
          <a:xfrm>
            <a:off x="457200" y="4023360"/>
            <a:ext cx="1920240" cy="685800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036F675-71AF-4B7B-809C-451018FC1CFD}"/>
              </a:ext>
            </a:extLst>
          </p:cNvPr>
          <p:cNvSpPr>
            <a:spLocks noGrp="1"/>
          </p:cNvSpPr>
          <p:nvPr/>
        </p:nvSpPr>
        <p:spPr>
          <a:xfrm>
            <a:off x="457200" y="40416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10B981"/>
                </a:solidFill>
              </a:rPr>
              <a:t>75%</a:t>
            </a: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0416370-EDD0-45B9-8BC3-189F6BC875A4}"/>
              </a:ext>
            </a:extLst>
          </p:cNvPr>
          <p:cNvSpPr>
            <a:spLocks noGrp="1"/>
          </p:cNvSpPr>
          <p:nvPr/>
        </p:nvSpPr>
        <p:spPr>
          <a:xfrm>
            <a:off x="457200" y="43891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FFFFFF"/>
                </a:solidFill>
              </a:rPr>
              <a:t>Simple</a:t>
            </a: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F05A6488-38EA-4ABD-8042-3C0198A96E7E}"/>
              </a:ext>
            </a:extLst>
          </p:cNvPr>
          <p:cNvSpPr>
            <a:spLocks noGrp="1"/>
          </p:cNvSpPr>
          <p:nvPr/>
        </p:nvSpPr>
        <p:spPr>
          <a:xfrm>
            <a:off x="2560320" y="4023360"/>
            <a:ext cx="1920240" cy="685800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89B037B8-8D37-4731-A316-2FA1FD7B4F1C}"/>
              </a:ext>
            </a:extLst>
          </p:cNvPr>
          <p:cNvSpPr>
            <a:spLocks noGrp="1"/>
          </p:cNvSpPr>
          <p:nvPr/>
        </p:nvSpPr>
        <p:spPr>
          <a:xfrm>
            <a:off x="2560320" y="40416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F5A623"/>
                </a:solidFill>
              </a:rPr>
              <a:t>67%</a:t>
            </a: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B8E8970F-177A-4C1E-94F1-25B5590C853B}"/>
              </a:ext>
            </a:extLst>
          </p:cNvPr>
          <p:cNvSpPr>
            <a:spLocks noGrp="1"/>
          </p:cNvSpPr>
          <p:nvPr/>
        </p:nvSpPr>
        <p:spPr>
          <a:xfrm>
            <a:off x="2560320" y="43891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FFFFFF"/>
                </a:solidFill>
              </a:rPr>
              <a:t>Conversational</a:t>
            </a: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AE3DC547-2E68-4A17-9DA2-E3B4E5AF7FB7}"/>
              </a:ext>
            </a:extLst>
          </p:cNvPr>
          <p:cNvSpPr>
            <a:spLocks noGrp="1"/>
          </p:cNvSpPr>
          <p:nvPr/>
        </p:nvSpPr>
        <p:spPr>
          <a:xfrm>
            <a:off x="4663440" y="4023360"/>
            <a:ext cx="1920240" cy="685800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19DA6265-A0AE-4B98-9BB2-70D716CC900A}"/>
              </a:ext>
            </a:extLst>
          </p:cNvPr>
          <p:cNvSpPr>
            <a:spLocks noGrp="1"/>
          </p:cNvSpPr>
          <p:nvPr/>
        </p:nvSpPr>
        <p:spPr>
          <a:xfrm>
            <a:off x="4663440" y="40416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E94560"/>
                </a:solidFill>
              </a:rPr>
              <a:t>50%</a:t>
            </a: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60FFB584-0CA5-4D0D-AE38-03DD760658ED}"/>
              </a:ext>
            </a:extLst>
          </p:cNvPr>
          <p:cNvSpPr>
            <a:spLocks noGrp="1"/>
          </p:cNvSpPr>
          <p:nvPr/>
        </p:nvSpPr>
        <p:spPr>
          <a:xfrm>
            <a:off x="4663440" y="43891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FFFFFF"/>
                </a:solidFill>
              </a:rPr>
              <a:t>Complex</a:t>
            </a: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70EE2E41-C980-45E4-9AAE-A46C98BBA477}"/>
              </a:ext>
            </a:extLst>
          </p:cNvPr>
          <p:cNvSpPr>
            <a:spLocks noGrp="1"/>
          </p:cNvSpPr>
          <p:nvPr/>
        </p:nvSpPr>
        <p:spPr>
          <a:xfrm>
            <a:off x="6766560" y="4023360"/>
            <a:ext cx="1920240" cy="685800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92A7ACA9-A73E-4F65-B925-3A6AE32F630F}"/>
              </a:ext>
            </a:extLst>
          </p:cNvPr>
          <p:cNvSpPr>
            <a:spLocks noGrp="1"/>
          </p:cNvSpPr>
          <p:nvPr/>
        </p:nvSpPr>
        <p:spPr>
          <a:xfrm>
            <a:off x="6766560" y="40416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10B981"/>
                </a:solidFill>
              </a:rPr>
              <a:t>100%</a:t>
            </a: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15E70902-9271-4CED-A239-05982305861B}"/>
              </a:ext>
            </a:extLst>
          </p:cNvPr>
          <p:cNvSpPr>
            <a:spLocks noGrp="1"/>
          </p:cNvSpPr>
          <p:nvPr/>
        </p:nvSpPr>
        <p:spPr>
          <a:xfrm>
            <a:off x="6766560" y="43891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FFFFFF"/>
                </a:solidFill>
              </a:rPr>
              <a:t>Distracting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CC78D1-1F95-4D73-87D2-453B86F779F8}"/>
              </a:ext>
            </a:extLst>
          </p:cNvPr>
          <p:cNvSpPr>
            <a:spLocks noGrp="1"/>
          </p:cNvSpPr>
          <p:nvPr/>
        </p:nvSpPr>
        <p:spPr>
          <a:xfrm>
            <a:off x="190500" y="742950"/>
            <a:ext cx="8763000" cy="2714625"/>
          </a:xfrm>
          <a:prstGeom prst="rect">
            <a:avLst/>
          </a:prstGeom>
          <a:solidFill>
            <a:srgbClr val="17182F"/>
          </a:solidFill>
          <a:ln w="0">
            <a:solidFill>
              <a:srgbClr val="17182F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263212-9D91-4620-920E-761E3F330E29}"/>
              </a:ext>
            </a:extLst>
          </p:cNvPr>
          <p:cNvSpPr>
            <a:spLocks noGrp="1"/>
          </p:cNvSpPr>
          <p:nvPr/>
        </p:nvSpPr>
        <p:spPr>
          <a:xfrm>
            <a:off x="274320" y="819150"/>
            <a:ext cx="2743200" cy="2562225"/>
          </a:xfrm>
          <a:prstGeom prst="rect">
            <a:avLst/>
          </a:prstGeom>
          <a:solidFill>
            <a:srgbClr val="17213C"/>
          </a:solidFill>
          <a:ln w="0">
            <a:solidFill>
              <a:srgbClr val="17213C"/>
            </a:solidFill>
          </a:ln>
        </p:spPr>
        <p:txBody>
          <a:bodyPr/>
          <a:lstStyle/>
          <a:p>
            <a:pPr marL="0" indent="0" algn="l" defTabSz="914400" rtl="0"/>
            <a:endParaRPr lang="en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B840FE-29FD-4B97-B0E2-200FB71C6628}"/>
              </a:ext>
            </a:extLst>
          </p:cNvPr>
          <p:cNvSpPr>
            <a:spLocks noGrp="1"/>
          </p:cNvSpPr>
          <p:nvPr/>
        </p:nvSpPr>
        <p:spPr>
          <a:xfrm>
            <a:off x="274320" y="847725"/>
            <a:ext cx="2743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BBF24"/>
                </a:solidFill>
                <a:latin typeface="Arial"/>
                <a:ea typeface="Arial"/>
                <a:cs typeface="Arial"/>
              </a:rPr>
              <a:t>Answer Correctness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6E1EFB-428D-4056-B4C0-A3A45F46702B}"/>
              </a:ext>
            </a:extLst>
          </p:cNvPr>
          <p:cNvSpPr>
            <a:spLocks noGrp="1"/>
          </p:cNvSpPr>
          <p:nvPr/>
        </p:nvSpPr>
        <p:spPr>
          <a:xfrm>
            <a:off x="636270" y="1276350"/>
            <a:ext cx="2152650" cy="6668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40000"/>
              </a:srgbClr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B53F3C-3661-42F4-B1E1-4EBF52D8A7D2}"/>
              </a:ext>
            </a:extLst>
          </p:cNvPr>
          <p:cNvSpPr>
            <a:spLocks noGrp="1"/>
          </p:cNvSpPr>
          <p:nvPr/>
        </p:nvSpPr>
        <p:spPr>
          <a:xfrm>
            <a:off x="636270" y="1633538"/>
            <a:ext cx="2152650" cy="6668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40000"/>
              </a:srgbClr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B81B86E-4115-4E7E-A968-0A16779EC8D6}"/>
              </a:ext>
            </a:extLst>
          </p:cNvPr>
          <p:cNvSpPr>
            <a:spLocks noGrp="1"/>
          </p:cNvSpPr>
          <p:nvPr/>
        </p:nvSpPr>
        <p:spPr>
          <a:xfrm>
            <a:off x="636270" y="1990725"/>
            <a:ext cx="2152650" cy="6668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40000"/>
              </a:srgbClr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840636-3A22-4B50-9E69-791834AA6130}"/>
              </a:ext>
            </a:extLst>
          </p:cNvPr>
          <p:cNvSpPr>
            <a:spLocks noGrp="1"/>
          </p:cNvSpPr>
          <p:nvPr/>
        </p:nvSpPr>
        <p:spPr>
          <a:xfrm>
            <a:off x="636270" y="2347913"/>
            <a:ext cx="2152650" cy="6668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40000"/>
              </a:srgbClr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CDD61B-83AD-4D4D-9D42-6979E3BA26E2}"/>
              </a:ext>
            </a:extLst>
          </p:cNvPr>
          <p:cNvSpPr>
            <a:spLocks noGrp="1"/>
          </p:cNvSpPr>
          <p:nvPr/>
        </p:nvSpPr>
        <p:spPr>
          <a:xfrm>
            <a:off x="636270" y="2705100"/>
            <a:ext cx="2152650" cy="6668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40000"/>
              </a:srgbClr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702BE3-9458-4E01-B5C8-FFD38E2A0F31}"/>
              </a:ext>
            </a:extLst>
          </p:cNvPr>
          <p:cNvSpPr>
            <a:spLocks noGrp="1"/>
          </p:cNvSpPr>
          <p:nvPr/>
        </p:nvSpPr>
        <p:spPr>
          <a:xfrm>
            <a:off x="780733" y="2133600"/>
            <a:ext cx="257175" cy="571500"/>
          </a:xfrm>
          <a:prstGeom prst="rect">
            <a:avLst/>
          </a:prstGeom>
          <a:solidFill>
            <a:srgbClr val="E94560"/>
          </a:solidFill>
          <a:ln w="0">
            <a:solidFill>
              <a:srgbClr val="E94560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7EFA9B-BD30-4D61-81ED-043673C52F08}"/>
              </a:ext>
            </a:extLst>
          </p:cNvPr>
          <p:cNvSpPr>
            <a:spLocks noGrp="1"/>
          </p:cNvSpPr>
          <p:nvPr/>
        </p:nvSpPr>
        <p:spPr>
          <a:xfrm>
            <a:off x="695008" y="1971675"/>
            <a:ext cx="4286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6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3BC14D-486F-488F-A4A6-D7E5C67A1834}"/>
              </a:ext>
            </a:extLst>
          </p:cNvPr>
          <p:cNvSpPr>
            <a:spLocks noGrp="1"/>
          </p:cNvSpPr>
          <p:nvPr/>
        </p:nvSpPr>
        <p:spPr>
          <a:xfrm>
            <a:off x="742633" y="2752725"/>
            <a:ext cx="3333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043B14-43C8-44D3-A455-1DF58179BA76}"/>
              </a:ext>
            </a:extLst>
          </p:cNvPr>
          <p:cNvSpPr>
            <a:spLocks noGrp="1"/>
          </p:cNvSpPr>
          <p:nvPr/>
        </p:nvSpPr>
        <p:spPr>
          <a:xfrm>
            <a:off x="1182370" y="1847850"/>
            <a:ext cx="257175" cy="857250"/>
          </a:xfrm>
          <a:prstGeom prst="rect">
            <a:avLst/>
          </a:prstGeom>
          <a:solidFill>
            <a:srgbClr val="F5A623"/>
          </a:solidFill>
          <a:ln w="0">
            <a:solidFill>
              <a:srgbClr val="F5A623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6667F6-3EC9-4A26-8EEB-7DCF7529B59A}"/>
              </a:ext>
            </a:extLst>
          </p:cNvPr>
          <p:cNvSpPr>
            <a:spLocks noGrp="1"/>
          </p:cNvSpPr>
          <p:nvPr/>
        </p:nvSpPr>
        <p:spPr>
          <a:xfrm>
            <a:off x="1096645" y="1685925"/>
            <a:ext cx="4286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6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1942B9C-07DA-45A5-8411-658FC8026588}"/>
              </a:ext>
            </a:extLst>
          </p:cNvPr>
          <p:cNvSpPr>
            <a:spLocks noGrp="1"/>
          </p:cNvSpPr>
          <p:nvPr/>
        </p:nvSpPr>
        <p:spPr>
          <a:xfrm>
            <a:off x="1144270" y="2752725"/>
            <a:ext cx="3333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4C52598-B7F0-41E5-9E5C-11EA3EF3D31C}"/>
              </a:ext>
            </a:extLst>
          </p:cNvPr>
          <p:cNvSpPr>
            <a:spLocks noGrp="1"/>
          </p:cNvSpPr>
          <p:nvPr/>
        </p:nvSpPr>
        <p:spPr>
          <a:xfrm>
            <a:off x="1584008" y="1562100"/>
            <a:ext cx="257175" cy="11430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ED10AC-C41B-4779-A8F8-02A348219E34}"/>
              </a:ext>
            </a:extLst>
          </p:cNvPr>
          <p:cNvSpPr>
            <a:spLocks noGrp="1"/>
          </p:cNvSpPr>
          <p:nvPr/>
        </p:nvSpPr>
        <p:spPr>
          <a:xfrm>
            <a:off x="1498283" y="1400175"/>
            <a:ext cx="4286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6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B189EB0-CC5B-4EF7-85C6-20E563CD520F}"/>
              </a:ext>
            </a:extLst>
          </p:cNvPr>
          <p:cNvSpPr>
            <a:spLocks noGrp="1"/>
          </p:cNvSpPr>
          <p:nvPr/>
        </p:nvSpPr>
        <p:spPr>
          <a:xfrm>
            <a:off x="1545908" y="2752725"/>
            <a:ext cx="3333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1E150A0-95DB-4528-9B9C-E503BF50F257}"/>
              </a:ext>
            </a:extLst>
          </p:cNvPr>
          <p:cNvSpPr>
            <a:spLocks noGrp="1"/>
          </p:cNvSpPr>
          <p:nvPr/>
        </p:nvSpPr>
        <p:spPr>
          <a:xfrm>
            <a:off x="1985645" y="1847850"/>
            <a:ext cx="257175" cy="8572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0">
            <a:solidFill>
              <a:srgbClr val="0F3460"/>
            </a:solidFill>
          </a:ln>
        </p:spPr>
        <p:txBody>
          <a:bodyPr/>
          <a:lstStyle/>
          <a:p>
            <a:pPr marL="0" indent="0" algn="l" defTabSz="914400" rtl="0"/>
            <a:endParaRPr lang="en-DE" dirty="0">
              <a:highlight>
                <a:srgbClr val="FFFF00"/>
              </a:highlight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C49D979-F667-4B46-B767-FE80FE92C7A2}"/>
              </a:ext>
            </a:extLst>
          </p:cNvPr>
          <p:cNvSpPr>
            <a:spLocks noGrp="1"/>
          </p:cNvSpPr>
          <p:nvPr/>
        </p:nvSpPr>
        <p:spPr>
          <a:xfrm>
            <a:off x="1899920" y="1685925"/>
            <a:ext cx="4286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6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3EC4FD8-5279-4AC0-B906-E6AB6F674838}"/>
              </a:ext>
            </a:extLst>
          </p:cNvPr>
          <p:cNvSpPr>
            <a:spLocks noGrp="1"/>
          </p:cNvSpPr>
          <p:nvPr/>
        </p:nvSpPr>
        <p:spPr>
          <a:xfrm>
            <a:off x="1947545" y="2752725"/>
            <a:ext cx="3333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AF9CFB5-C22A-40E9-820A-FD6F8BAD84CD}"/>
              </a:ext>
            </a:extLst>
          </p:cNvPr>
          <p:cNvSpPr>
            <a:spLocks noGrp="1"/>
          </p:cNvSpPr>
          <p:nvPr/>
        </p:nvSpPr>
        <p:spPr>
          <a:xfrm>
            <a:off x="2387283" y="1562100"/>
            <a:ext cx="257175" cy="11430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1C045BD-71C2-498A-8826-098E6C1A33E2}"/>
              </a:ext>
            </a:extLst>
          </p:cNvPr>
          <p:cNvSpPr>
            <a:spLocks noGrp="1"/>
          </p:cNvSpPr>
          <p:nvPr/>
        </p:nvSpPr>
        <p:spPr>
          <a:xfrm>
            <a:off x="2301558" y="1400175"/>
            <a:ext cx="4286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6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465863D-B387-4669-9C89-5D6C8ADF0EFB}"/>
              </a:ext>
            </a:extLst>
          </p:cNvPr>
          <p:cNvSpPr>
            <a:spLocks noGrp="1"/>
          </p:cNvSpPr>
          <p:nvPr/>
        </p:nvSpPr>
        <p:spPr>
          <a:xfrm>
            <a:off x="2349183" y="2752725"/>
            <a:ext cx="3333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v5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B2C5C9-8842-4968-BE40-B63127C79236}"/>
              </a:ext>
            </a:extLst>
          </p:cNvPr>
          <p:cNvSpPr>
            <a:spLocks noGrp="1"/>
          </p:cNvSpPr>
          <p:nvPr/>
        </p:nvSpPr>
        <p:spPr>
          <a:xfrm>
            <a:off x="3200400" y="819150"/>
            <a:ext cx="2743200" cy="2562225"/>
          </a:xfrm>
          <a:prstGeom prst="rect">
            <a:avLst/>
          </a:prstGeom>
          <a:solidFill>
            <a:srgbClr val="17213C"/>
          </a:solidFill>
          <a:ln w="0">
            <a:solidFill>
              <a:srgbClr val="17213C"/>
            </a:solidFill>
          </a:ln>
        </p:spPr>
        <p:txBody>
          <a:bodyPr/>
          <a:lstStyle/>
          <a:p>
            <a:pPr marL="0" indent="0" algn="l" defTabSz="914400" rtl="0"/>
            <a:endParaRPr lang="en-DE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A9A4685-27F0-4C3E-9E71-637BAA5BA585}"/>
              </a:ext>
            </a:extLst>
          </p:cNvPr>
          <p:cNvSpPr>
            <a:spLocks noGrp="1"/>
          </p:cNvSpPr>
          <p:nvPr/>
        </p:nvSpPr>
        <p:spPr>
          <a:xfrm>
            <a:off x="3200400" y="847725"/>
            <a:ext cx="2743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BBF24"/>
                </a:solidFill>
                <a:latin typeface="Arial"/>
                <a:ea typeface="Arial"/>
                <a:cs typeface="Arial"/>
              </a:rPr>
              <a:t>Groundedness Score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FB80643-51B0-46E6-ABED-9B4F38D0DF47}"/>
              </a:ext>
            </a:extLst>
          </p:cNvPr>
          <p:cNvSpPr>
            <a:spLocks noGrp="1"/>
          </p:cNvSpPr>
          <p:nvPr/>
        </p:nvSpPr>
        <p:spPr>
          <a:xfrm>
            <a:off x="3562350" y="1276350"/>
            <a:ext cx="2152650" cy="6668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40000"/>
              </a:srgbClr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5880FA-54D4-498B-A65C-591ECECA2EB5}"/>
              </a:ext>
            </a:extLst>
          </p:cNvPr>
          <p:cNvSpPr>
            <a:spLocks noGrp="1"/>
          </p:cNvSpPr>
          <p:nvPr/>
        </p:nvSpPr>
        <p:spPr>
          <a:xfrm>
            <a:off x="3562350" y="1633538"/>
            <a:ext cx="2152650" cy="6668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40000"/>
              </a:srgbClr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B1D384-CFF9-49F7-90D0-84D74D5325C2}"/>
              </a:ext>
            </a:extLst>
          </p:cNvPr>
          <p:cNvSpPr>
            <a:spLocks noGrp="1"/>
          </p:cNvSpPr>
          <p:nvPr/>
        </p:nvSpPr>
        <p:spPr>
          <a:xfrm>
            <a:off x="3562350" y="1990725"/>
            <a:ext cx="2152650" cy="6668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40000"/>
              </a:srgbClr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E8FF11A-D7E3-4F64-A1DE-BFDA69991489}"/>
              </a:ext>
            </a:extLst>
          </p:cNvPr>
          <p:cNvSpPr>
            <a:spLocks noGrp="1"/>
          </p:cNvSpPr>
          <p:nvPr/>
        </p:nvSpPr>
        <p:spPr>
          <a:xfrm>
            <a:off x="3562350" y="2347913"/>
            <a:ext cx="2152650" cy="6668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40000"/>
              </a:srgbClr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0F3C527-5734-44D8-BD6B-B79926334D26}"/>
              </a:ext>
            </a:extLst>
          </p:cNvPr>
          <p:cNvSpPr>
            <a:spLocks noGrp="1"/>
          </p:cNvSpPr>
          <p:nvPr/>
        </p:nvSpPr>
        <p:spPr>
          <a:xfrm>
            <a:off x="3562350" y="2705100"/>
            <a:ext cx="2152650" cy="6668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40000"/>
              </a:srgbClr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F37D1EE-5A70-4742-BE96-E98A31F6D2D0}"/>
              </a:ext>
            </a:extLst>
          </p:cNvPr>
          <p:cNvSpPr>
            <a:spLocks noGrp="1"/>
          </p:cNvSpPr>
          <p:nvPr/>
        </p:nvSpPr>
        <p:spPr>
          <a:xfrm>
            <a:off x="3706813" y="2133600"/>
            <a:ext cx="257175" cy="571500"/>
          </a:xfrm>
          <a:prstGeom prst="rect">
            <a:avLst/>
          </a:prstGeom>
          <a:solidFill>
            <a:srgbClr val="E94560"/>
          </a:solidFill>
          <a:ln w="0">
            <a:solidFill>
              <a:srgbClr val="E94560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5642459-6559-4C80-B307-6B2CB7D154AF}"/>
              </a:ext>
            </a:extLst>
          </p:cNvPr>
          <p:cNvSpPr>
            <a:spLocks noGrp="1"/>
          </p:cNvSpPr>
          <p:nvPr/>
        </p:nvSpPr>
        <p:spPr>
          <a:xfrm>
            <a:off x="3621088" y="1971675"/>
            <a:ext cx="4286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6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C8B459B-E035-4515-B072-873957CD7B9B}"/>
              </a:ext>
            </a:extLst>
          </p:cNvPr>
          <p:cNvSpPr>
            <a:spLocks noGrp="1"/>
          </p:cNvSpPr>
          <p:nvPr/>
        </p:nvSpPr>
        <p:spPr>
          <a:xfrm>
            <a:off x="3668713" y="2752725"/>
            <a:ext cx="3333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C37FA92-8817-4C69-B7E0-F70F2E23C3E9}"/>
              </a:ext>
            </a:extLst>
          </p:cNvPr>
          <p:cNvSpPr>
            <a:spLocks noGrp="1"/>
          </p:cNvSpPr>
          <p:nvPr/>
        </p:nvSpPr>
        <p:spPr>
          <a:xfrm>
            <a:off x="4108450" y="2133600"/>
            <a:ext cx="257175" cy="571500"/>
          </a:xfrm>
          <a:prstGeom prst="rect">
            <a:avLst/>
          </a:prstGeom>
          <a:solidFill>
            <a:srgbClr val="F5A623"/>
          </a:solidFill>
          <a:ln w="0">
            <a:solidFill>
              <a:srgbClr val="F5A623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13F0E66-943F-4F16-B86C-9D8F3A0CE804}"/>
              </a:ext>
            </a:extLst>
          </p:cNvPr>
          <p:cNvSpPr>
            <a:spLocks noGrp="1"/>
          </p:cNvSpPr>
          <p:nvPr/>
        </p:nvSpPr>
        <p:spPr>
          <a:xfrm>
            <a:off x="4022725" y="1971675"/>
            <a:ext cx="4286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6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1A729EA-055C-44CC-A2D6-6AF8A53FA217}"/>
              </a:ext>
            </a:extLst>
          </p:cNvPr>
          <p:cNvSpPr>
            <a:spLocks noGrp="1"/>
          </p:cNvSpPr>
          <p:nvPr/>
        </p:nvSpPr>
        <p:spPr>
          <a:xfrm>
            <a:off x="4070350" y="2752725"/>
            <a:ext cx="3333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A2AC413-C0FF-4382-95D1-243CA1100F65}"/>
              </a:ext>
            </a:extLst>
          </p:cNvPr>
          <p:cNvSpPr>
            <a:spLocks noGrp="1"/>
          </p:cNvSpPr>
          <p:nvPr/>
        </p:nvSpPr>
        <p:spPr>
          <a:xfrm>
            <a:off x="4510088" y="1847850"/>
            <a:ext cx="257175" cy="85725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AC7D799-5216-4F04-BD14-25E93844CE4E}"/>
              </a:ext>
            </a:extLst>
          </p:cNvPr>
          <p:cNvSpPr>
            <a:spLocks noGrp="1"/>
          </p:cNvSpPr>
          <p:nvPr/>
        </p:nvSpPr>
        <p:spPr>
          <a:xfrm>
            <a:off x="4424363" y="1685925"/>
            <a:ext cx="4286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6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497B0BF-B34E-41C6-A7CC-BCBC1A00A36B}"/>
              </a:ext>
            </a:extLst>
          </p:cNvPr>
          <p:cNvSpPr>
            <a:spLocks noGrp="1"/>
          </p:cNvSpPr>
          <p:nvPr/>
        </p:nvSpPr>
        <p:spPr>
          <a:xfrm>
            <a:off x="4471988" y="2752725"/>
            <a:ext cx="3333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50B1DE7-0377-4E89-9C51-0FA6A287F7CC}"/>
              </a:ext>
            </a:extLst>
          </p:cNvPr>
          <p:cNvSpPr>
            <a:spLocks noGrp="1"/>
          </p:cNvSpPr>
          <p:nvPr/>
        </p:nvSpPr>
        <p:spPr>
          <a:xfrm>
            <a:off x="4911725" y="1990725"/>
            <a:ext cx="257175" cy="7143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0">
            <a:solidFill>
              <a:srgbClr val="0F3460"/>
            </a:solidFill>
          </a:ln>
        </p:spPr>
        <p:txBody>
          <a:bodyPr/>
          <a:lstStyle/>
          <a:p>
            <a:pPr marL="0" indent="0" algn="l" defTabSz="914400" rtl="0"/>
            <a:endParaRPr lang="en-DE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69941A5-E496-49E4-A117-E6E40EC89137}"/>
              </a:ext>
            </a:extLst>
          </p:cNvPr>
          <p:cNvSpPr>
            <a:spLocks noGrp="1"/>
          </p:cNvSpPr>
          <p:nvPr/>
        </p:nvSpPr>
        <p:spPr>
          <a:xfrm>
            <a:off x="4826000" y="1828800"/>
            <a:ext cx="4286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6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41968BE-F98F-4F88-A9FB-A93129A5BEC5}"/>
              </a:ext>
            </a:extLst>
          </p:cNvPr>
          <p:cNvSpPr>
            <a:spLocks noGrp="1"/>
          </p:cNvSpPr>
          <p:nvPr/>
        </p:nvSpPr>
        <p:spPr>
          <a:xfrm>
            <a:off x="4873625" y="2752725"/>
            <a:ext cx="3333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v4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694BE6D-13DC-4E9E-ACCD-58E3044950A0}"/>
              </a:ext>
            </a:extLst>
          </p:cNvPr>
          <p:cNvSpPr>
            <a:spLocks noGrp="1"/>
          </p:cNvSpPr>
          <p:nvPr/>
        </p:nvSpPr>
        <p:spPr>
          <a:xfrm>
            <a:off x="5313363" y="1704975"/>
            <a:ext cx="257175" cy="1000125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C3E3C84-B993-415A-89EC-8E957AE4AAF2}"/>
              </a:ext>
            </a:extLst>
          </p:cNvPr>
          <p:cNvSpPr>
            <a:spLocks noGrp="1"/>
          </p:cNvSpPr>
          <p:nvPr/>
        </p:nvSpPr>
        <p:spPr>
          <a:xfrm>
            <a:off x="5227638" y="1543050"/>
            <a:ext cx="4286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6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0.7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507F429-83AC-4F0D-9295-819D42090D05}"/>
              </a:ext>
            </a:extLst>
          </p:cNvPr>
          <p:cNvSpPr>
            <a:spLocks noGrp="1"/>
          </p:cNvSpPr>
          <p:nvPr/>
        </p:nvSpPr>
        <p:spPr>
          <a:xfrm>
            <a:off x="5275263" y="2752725"/>
            <a:ext cx="3333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v5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E867878-FF93-4F32-B24F-6AD61C81757C}"/>
              </a:ext>
            </a:extLst>
          </p:cNvPr>
          <p:cNvSpPr>
            <a:spLocks noGrp="1"/>
          </p:cNvSpPr>
          <p:nvPr/>
        </p:nvSpPr>
        <p:spPr>
          <a:xfrm>
            <a:off x="6126480" y="819150"/>
            <a:ext cx="2743200" cy="2562225"/>
          </a:xfrm>
          <a:prstGeom prst="rect">
            <a:avLst/>
          </a:prstGeom>
          <a:solidFill>
            <a:srgbClr val="17213C"/>
          </a:solidFill>
          <a:ln w="0">
            <a:solidFill>
              <a:srgbClr val="17213C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00A895D-2CCD-4221-8777-B5BF66B73DD0}"/>
              </a:ext>
            </a:extLst>
          </p:cNvPr>
          <p:cNvSpPr>
            <a:spLocks noGrp="1"/>
          </p:cNvSpPr>
          <p:nvPr/>
        </p:nvSpPr>
        <p:spPr>
          <a:xfrm>
            <a:off x="6126480" y="847725"/>
            <a:ext cx="2743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BBF24"/>
                </a:solidFill>
                <a:latin typeface="Arial"/>
                <a:ea typeface="Arial"/>
                <a:cs typeface="Arial"/>
              </a:rPr>
              <a:t>ROUGE-1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F4BFA2C-8711-4B09-8E79-11107E98413E}"/>
              </a:ext>
            </a:extLst>
          </p:cNvPr>
          <p:cNvSpPr>
            <a:spLocks noGrp="1"/>
          </p:cNvSpPr>
          <p:nvPr/>
        </p:nvSpPr>
        <p:spPr>
          <a:xfrm>
            <a:off x="6488430" y="1276350"/>
            <a:ext cx="2152650" cy="6668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40000"/>
              </a:srgbClr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CD6B9C9-CF62-4F59-9042-E68BAC313B5C}"/>
              </a:ext>
            </a:extLst>
          </p:cNvPr>
          <p:cNvSpPr>
            <a:spLocks noGrp="1"/>
          </p:cNvSpPr>
          <p:nvPr/>
        </p:nvSpPr>
        <p:spPr>
          <a:xfrm>
            <a:off x="6488430" y="1633538"/>
            <a:ext cx="2152650" cy="6668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40000"/>
              </a:srgbClr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47790C9-B821-430C-930F-5EA59A92B78B}"/>
              </a:ext>
            </a:extLst>
          </p:cNvPr>
          <p:cNvSpPr>
            <a:spLocks noGrp="1"/>
          </p:cNvSpPr>
          <p:nvPr/>
        </p:nvSpPr>
        <p:spPr>
          <a:xfrm>
            <a:off x="6488430" y="1990725"/>
            <a:ext cx="2152650" cy="6668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40000"/>
              </a:srgbClr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C9FA1E1-B8BD-4DB0-BFE4-CDF815BAB550}"/>
              </a:ext>
            </a:extLst>
          </p:cNvPr>
          <p:cNvSpPr>
            <a:spLocks noGrp="1"/>
          </p:cNvSpPr>
          <p:nvPr/>
        </p:nvSpPr>
        <p:spPr>
          <a:xfrm>
            <a:off x="6488430" y="2347913"/>
            <a:ext cx="2152650" cy="6668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40000"/>
              </a:srgbClr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9C64000-D16C-4294-86E1-FC0B81F3D909}"/>
              </a:ext>
            </a:extLst>
          </p:cNvPr>
          <p:cNvSpPr>
            <a:spLocks noGrp="1"/>
          </p:cNvSpPr>
          <p:nvPr/>
        </p:nvSpPr>
        <p:spPr>
          <a:xfrm>
            <a:off x="6488430" y="2705100"/>
            <a:ext cx="2152650" cy="6668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40000"/>
              </a:srgbClr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689B63B-AE71-4DE2-B714-0EF3E42F1B8D}"/>
              </a:ext>
            </a:extLst>
          </p:cNvPr>
          <p:cNvSpPr>
            <a:spLocks noGrp="1"/>
          </p:cNvSpPr>
          <p:nvPr/>
        </p:nvSpPr>
        <p:spPr>
          <a:xfrm>
            <a:off x="6632893" y="2005013"/>
            <a:ext cx="257175" cy="700088"/>
          </a:xfrm>
          <a:prstGeom prst="rect">
            <a:avLst/>
          </a:prstGeom>
          <a:solidFill>
            <a:srgbClr val="E94560"/>
          </a:solidFill>
          <a:ln w="0">
            <a:solidFill>
              <a:srgbClr val="E94560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2E32D48-9611-4AB8-91D3-B602346A68D9}"/>
              </a:ext>
            </a:extLst>
          </p:cNvPr>
          <p:cNvSpPr>
            <a:spLocks noGrp="1"/>
          </p:cNvSpPr>
          <p:nvPr/>
        </p:nvSpPr>
        <p:spPr>
          <a:xfrm>
            <a:off x="6547168" y="1843088"/>
            <a:ext cx="4286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6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0.15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6FB4999-8638-4623-A81B-86E0BF5CDAF1}"/>
              </a:ext>
            </a:extLst>
          </p:cNvPr>
          <p:cNvSpPr>
            <a:spLocks noGrp="1"/>
          </p:cNvSpPr>
          <p:nvPr/>
        </p:nvSpPr>
        <p:spPr>
          <a:xfrm>
            <a:off x="6594793" y="2752725"/>
            <a:ext cx="3333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B1F97D0-2846-4DF3-8FD0-2A5C7052ED19}"/>
              </a:ext>
            </a:extLst>
          </p:cNvPr>
          <p:cNvSpPr>
            <a:spLocks noGrp="1"/>
          </p:cNvSpPr>
          <p:nvPr/>
        </p:nvSpPr>
        <p:spPr>
          <a:xfrm>
            <a:off x="7034530" y="2295525"/>
            <a:ext cx="257175" cy="409575"/>
          </a:xfrm>
          <a:prstGeom prst="rect">
            <a:avLst/>
          </a:prstGeom>
          <a:solidFill>
            <a:srgbClr val="F5A623"/>
          </a:solidFill>
          <a:ln w="0">
            <a:solidFill>
              <a:srgbClr val="F5A623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8AD9049-1787-47B1-86AA-8CCC002EF7CA}"/>
              </a:ext>
            </a:extLst>
          </p:cNvPr>
          <p:cNvSpPr>
            <a:spLocks noGrp="1"/>
          </p:cNvSpPr>
          <p:nvPr/>
        </p:nvSpPr>
        <p:spPr>
          <a:xfrm>
            <a:off x="6948805" y="2133600"/>
            <a:ext cx="4286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6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0.086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F82C1F2-7775-4A22-B5E8-343A4C5EB6DE}"/>
              </a:ext>
            </a:extLst>
          </p:cNvPr>
          <p:cNvSpPr>
            <a:spLocks noGrp="1"/>
          </p:cNvSpPr>
          <p:nvPr/>
        </p:nvSpPr>
        <p:spPr>
          <a:xfrm>
            <a:off x="6996430" y="2752725"/>
            <a:ext cx="3333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CA7D1AE-B63B-4DEE-9378-F0710E347E62}"/>
              </a:ext>
            </a:extLst>
          </p:cNvPr>
          <p:cNvSpPr>
            <a:spLocks noGrp="1"/>
          </p:cNvSpPr>
          <p:nvPr/>
        </p:nvSpPr>
        <p:spPr>
          <a:xfrm>
            <a:off x="7436168" y="2262188"/>
            <a:ext cx="257175" cy="442913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2D607F1-5077-4413-8C7F-E17EE1FF6F75}"/>
              </a:ext>
            </a:extLst>
          </p:cNvPr>
          <p:cNvSpPr>
            <a:spLocks noGrp="1"/>
          </p:cNvSpPr>
          <p:nvPr/>
        </p:nvSpPr>
        <p:spPr>
          <a:xfrm>
            <a:off x="7350443" y="2100263"/>
            <a:ext cx="4286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6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0.093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27CC712-2A4D-4F7B-834C-EB93F04A3585}"/>
              </a:ext>
            </a:extLst>
          </p:cNvPr>
          <p:cNvSpPr>
            <a:spLocks noGrp="1"/>
          </p:cNvSpPr>
          <p:nvPr/>
        </p:nvSpPr>
        <p:spPr>
          <a:xfrm>
            <a:off x="7398068" y="2752725"/>
            <a:ext cx="3333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8FB784C-5348-4539-9EC4-F2435A9A1DF9}"/>
              </a:ext>
            </a:extLst>
          </p:cNvPr>
          <p:cNvSpPr>
            <a:spLocks noGrp="1"/>
          </p:cNvSpPr>
          <p:nvPr/>
        </p:nvSpPr>
        <p:spPr>
          <a:xfrm>
            <a:off x="7837805" y="1314450"/>
            <a:ext cx="257175" cy="13906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0">
            <a:solidFill>
              <a:srgbClr val="0F3460"/>
            </a:solidFill>
          </a:ln>
        </p:spPr>
        <p:txBody>
          <a:bodyPr/>
          <a:lstStyle/>
          <a:p>
            <a:pPr marL="0" indent="0" algn="l" defTabSz="914400" rtl="0"/>
            <a:endParaRPr lang="en-DE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73E1A5E-F762-43B9-9D20-79B598EDBE3A}"/>
              </a:ext>
            </a:extLst>
          </p:cNvPr>
          <p:cNvSpPr>
            <a:spLocks noGrp="1"/>
          </p:cNvSpPr>
          <p:nvPr/>
        </p:nvSpPr>
        <p:spPr>
          <a:xfrm>
            <a:off x="7752080" y="1152525"/>
            <a:ext cx="4286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6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0.29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9F69D1F-8B19-4A8C-AE2F-CBF59F4A53A3}"/>
              </a:ext>
            </a:extLst>
          </p:cNvPr>
          <p:cNvSpPr>
            <a:spLocks noGrp="1"/>
          </p:cNvSpPr>
          <p:nvPr/>
        </p:nvSpPr>
        <p:spPr>
          <a:xfrm>
            <a:off x="7799705" y="2752725"/>
            <a:ext cx="3333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v4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6EE6DA6-02B1-479F-A5FA-F7B1674CA485}"/>
              </a:ext>
            </a:extLst>
          </p:cNvPr>
          <p:cNvSpPr>
            <a:spLocks noGrp="1"/>
          </p:cNvSpPr>
          <p:nvPr/>
        </p:nvSpPr>
        <p:spPr>
          <a:xfrm>
            <a:off x="8239443" y="1300163"/>
            <a:ext cx="257175" cy="1404938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56311B1-03E6-4B76-A15B-66AF2D739ADB}"/>
              </a:ext>
            </a:extLst>
          </p:cNvPr>
          <p:cNvSpPr>
            <a:spLocks noGrp="1"/>
          </p:cNvSpPr>
          <p:nvPr/>
        </p:nvSpPr>
        <p:spPr>
          <a:xfrm>
            <a:off x="8153718" y="1138238"/>
            <a:ext cx="4286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6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0.29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0901310-4192-4379-8B10-1FC3B4A480C5}"/>
              </a:ext>
            </a:extLst>
          </p:cNvPr>
          <p:cNvSpPr>
            <a:spLocks noGrp="1"/>
          </p:cNvSpPr>
          <p:nvPr/>
        </p:nvSpPr>
        <p:spPr>
          <a:xfrm>
            <a:off x="8201343" y="2752725"/>
            <a:ext cx="3333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v5</a:t>
            </a:r>
          </a:p>
        </p:txBody>
      </p:sp>
    </p:spTree>
    <p:extLst>
      <p:ext uri="{BB962C8B-B14F-4D97-AF65-F5344CB8AC3E}">
        <p14:creationId xmlns:p14="http://schemas.microsoft.com/office/powerpoint/2010/main" val="821908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3B1ABA2D-72CC-4C86-8497-D935461E4A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E86F895-F97A-4CC1-9091-1B4AAE8D888A}"/>
              </a:ext>
            </a:extLst>
          </p:cNvPr>
          <p:cNvSpPr>
            <a:spLocks noGrp="1"/>
          </p:cNvSpPr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</a:rPr>
              <a:t>🍜 PhoBuddy — Key Achievements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8B1658A-8498-43A6-B3E6-B62698A4A923}"/>
              </a:ext>
            </a:extLst>
          </p:cNvPr>
          <p:cNvSpPr>
            <a:spLocks noGrp="1"/>
          </p:cNvSpPr>
          <p:nvPr/>
        </p:nvSpPr>
        <p:spPr>
          <a:xfrm>
            <a:off x="365760" y="96012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FFFFFF"/>
                </a:solidFill>
              </a:rPr>
              <a:t>✅  15 videos · 392 chunks · 3 cuisines ingested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E962123-2C59-4AE1-8815-4CA6908B1227}"/>
              </a:ext>
            </a:extLst>
          </p:cNvPr>
          <p:cNvSpPr>
            <a:spLocks noGrp="1"/>
          </p:cNvSpPr>
          <p:nvPr/>
        </p:nvSpPr>
        <p:spPr>
          <a:xfrm>
            <a:off x="365760" y="150876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FFFFFF"/>
                </a:solidFill>
              </a:rPr>
              <a:t>✅  LangGraph ReAct agent with 4 tools + MemorySaver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DAEC737-439A-4F6E-920A-48390992E25F}"/>
              </a:ext>
            </a:extLst>
          </p:cNvPr>
          <p:cNvSpPr>
            <a:spLocks noGrp="1"/>
          </p:cNvSpPr>
          <p:nvPr/>
        </p:nvSpPr>
        <p:spPr>
          <a:xfrm>
            <a:off x="365760" y="205740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FFFFFF"/>
                </a:solidFill>
              </a:rPr>
              <a:t>✅  LCEL RAG chain with versioned prompts (v1→v5)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4E2C744-FD2A-4B87-A55E-642859396E72}"/>
              </a:ext>
            </a:extLst>
          </p:cNvPr>
          <p:cNvSpPr>
            <a:spLocks noGrp="1"/>
          </p:cNvSpPr>
          <p:nvPr/>
        </p:nvSpPr>
        <p:spPr>
          <a:xfrm>
            <a:off x="365760" y="26060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FFFFFF"/>
                </a:solidFill>
              </a:rPr>
              <a:t>✅  v5 answer correctness: 0.80 | ROUGE-1: 0.295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FB797CD-4889-47E5-880B-F5B5AC127C4B}"/>
              </a:ext>
            </a:extLst>
          </p:cNvPr>
          <p:cNvSpPr>
            <a:spLocks noGrp="1"/>
          </p:cNvSpPr>
          <p:nvPr/>
        </p:nvSpPr>
        <p:spPr>
          <a:xfrm>
            <a:off x="365760" y="31546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FFFFFF"/>
                </a:solidFill>
              </a:rPr>
              <a:t>✅  Giskard: 100% on distracting element questions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1DDC72E-694A-475F-A7E4-46F2D6FBBF79}"/>
              </a:ext>
            </a:extLst>
          </p:cNvPr>
          <p:cNvSpPr>
            <a:spLocks noGrp="1"/>
          </p:cNvSpPr>
          <p:nvPr/>
        </p:nvSpPr>
        <p:spPr>
          <a:xfrm>
            <a:off x="365760" y="370332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FFFFFF"/>
                </a:solidFill>
              </a:rPr>
              <a:t>✅  LangSmith tracing across all iterations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7C05B86-183E-4AD1-B794-773B10C5E7D6}"/>
              </a:ext>
            </a:extLst>
          </p:cNvPr>
          <p:cNvSpPr>
            <a:spLocks noGrp="1"/>
          </p:cNvSpPr>
          <p:nvPr/>
        </p:nvSpPr>
        <p:spPr>
          <a:xfrm>
            <a:off x="365760" y="425196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FFFFFF"/>
                </a:solidFill>
              </a:rPr>
              <a:t>✅  Deployed on Streamlit Cloud + food photos + web search fallback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7610730-5806-4859-BA49-7E836AADDA5D}"/>
              </a:ext>
            </a:extLst>
          </p:cNvPr>
          <p:cNvSpPr>
            <a:spLocks noGrp="1"/>
          </p:cNvSpPr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0F3460"/>
          </a:solidFill>
        </p:spPr>
        <p:txBody>
          <a:bodyPr/>
          <a:lstStyle/>
          <a:p>
            <a:endParaRPr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8FFBEFC-D0CA-4B9C-9D16-A84CF6D47167}"/>
              </a:ext>
            </a:extLst>
          </p:cNvPr>
          <p:cNvSpPr>
            <a:spLocks noGrp="1"/>
          </p:cNvSpPr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🚀  Future: STT voice input · Pinecone cloud DB · More cuisines · Semantic chunking</a:t>
            </a:r>
          </a:p>
        </p:txBody>
      </p:sp>
    </p:spTree>
    <p:extLst>
      <p:ext uri="{BB962C8B-B14F-4D97-AF65-F5344CB8AC3E}">
        <p14:creationId xmlns:p14="http://schemas.microsoft.com/office/powerpoint/2010/main" val="891673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D08021-8FE1-494B-812A-347D12F7C1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997640-CC03-40FF-B233-B3CCB3DBB8A2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1A1A2E"/>
                </a:solidFill>
              </a:rPr>
              <a:t>Live Demo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6FAC5F-7526-47F3-A056-FF81F29D56BC}"/>
              </a:ext>
            </a:extLst>
          </p:cNvPr>
          <p:cNvSpPr>
            <a:spLocks noGrp="1"/>
          </p:cNvSpPr>
          <p:nvPr/>
        </p:nvSpPr>
        <p:spPr>
          <a:xfrm>
            <a:off x="365760" y="10058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A1A2E"/>
                </a:solidFill>
              </a:rPr>
              <a:t>Pre-written Demo Questions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F3D1886-324F-4502-8492-B368E14E2B84}"/>
              </a:ext>
            </a:extLst>
          </p:cNvPr>
          <p:cNvSpPr>
            <a:spLocks noGrp="1"/>
          </p:cNvSpPr>
          <p:nvPr/>
        </p:nvSpPr>
        <p:spPr>
          <a:xfrm>
            <a:off x="365760" y="1463040"/>
            <a:ext cx="5029200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FFC259E-1EBD-4326-AB8A-322A4F0B5440}"/>
              </a:ext>
            </a:extLst>
          </p:cNvPr>
          <p:cNvSpPr>
            <a:spLocks noGrp="1"/>
          </p:cNvSpPr>
          <p:nvPr/>
        </p:nvSpPr>
        <p:spPr>
          <a:xfrm>
            <a:off x="365760" y="1463040"/>
            <a:ext cx="73152" cy="502920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703E1E2-82AF-452D-BC5E-5EDFD5389ECB}"/>
              </a:ext>
            </a:extLst>
          </p:cNvPr>
          <p:cNvSpPr>
            <a:spLocks noGrp="1"/>
          </p:cNvSpPr>
          <p:nvPr/>
        </p:nvSpPr>
        <p:spPr>
          <a:xfrm>
            <a:off x="548640" y="150876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E293B"/>
                </a:solidFill>
              </a:rPr>
              <a:t>1.  How do I make pho broth from scratch?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F7E45CC-1AA0-4CA2-96AB-E6B9A4C7558E}"/>
              </a:ext>
            </a:extLst>
          </p:cNvPr>
          <p:cNvSpPr>
            <a:spLocks noGrp="1"/>
          </p:cNvSpPr>
          <p:nvPr/>
        </p:nvSpPr>
        <p:spPr>
          <a:xfrm>
            <a:off x="365760" y="2084832"/>
            <a:ext cx="5029200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B3AFCAB-3AB7-4604-8F3D-39AF28586FD2}"/>
              </a:ext>
            </a:extLst>
          </p:cNvPr>
          <p:cNvSpPr>
            <a:spLocks noGrp="1"/>
          </p:cNvSpPr>
          <p:nvPr/>
        </p:nvSpPr>
        <p:spPr>
          <a:xfrm>
            <a:off x="365760" y="2084832"/>
            <a:ext cx="73152" cy="502920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D77CF5D-1208-44F0-9612-75CAA20E893B}"/>
              </a:ext>
            </a:extLst>
          </p:cNvPr>
          <p:cNvSpPr>
            <a:spLocks noGrp="1"/>
          </p:cNvSpPr>
          <p:nvPr/>
        </p:nvSpPr>
        <p:spPr>
          <a:xfrm>
            <a:off x="548640" y="2130552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E293B"/>
                </a:solidFill>
              </a:rPr>
              <a:t>2.  Tell me about Pad Thai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A41E47B-CFD1-41B0-99D4-00F66B10DB07}"/>
              </a:ext>
            </a:extLst>
          </p:cNvPr>
          <p:cNvSpPr>
            <a:spLocks noGrp="1"/>
          </p:cNvSpPr>
          <p:nvPr/>
        </p:nvSpPr>
        <p:spPr>
          <a:xfrm>
            <a:off x="365760" y="2706624"/>
            <a:ext cx="5029200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FD588D0-6B28-4C3F-8CFA-834590B9DD0F}"/>
              </a:ext>
            </a:extLst>
          </p:cNvPr>
          <p:cNvSpPr>
            <a:spLocks noGrp="1"/>
          </p:cNvSpPr>
          <p:nvPr/>
        </p:nvSpPr>
        <p:spPr>
          <a:xfrm>
            <a:off x="365760" y="2706624"/>
            <a:ext cx="73152" cy="502920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7983459-0FA3-44CB-8FFD-A48D0324FE06}"/>
              </a:ext>
            </a:extLst>
          </p:cNvPr>
          <p:cNvSpPr>
            <a:spLocks noGrp="1"/>
          </p:cNvSpPr>
          <p:nvPr/>
        </p:nvSpPr>
        <p:spPr>
          <a:xfrm>
            <a:off x="548640" y="2752344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E293B"/>
                </a:solidFill>
              </a:rPr>
              <a:t>3.  How do I make Char Siu pork?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0100812-81F7-4058-8497-077E83068418}"/>
              </a:ext>
            </a:extLst>
          </p:cNvPr>
          <p:cNvSpPr>
            <a:spLocks noGrp="1"/>
          </p:cNvSpPr>
          <p:nvPr/>
        </p:nvSpPr>
        <p:spPr>
          <a:xfrm>
            <a:off x="365760" y="3328416"/>
            <a:ext cx="5029200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66D99F2-08AA-46F1-B343-820B9DB8491D}"/>
              </a:ext>
            </a:extLst>
          </p:cNvPr>
          <p:cNvSpPr>
            <a:spLocks noGrp="1"/>
          </p:cNvSpPr>
          <p:nvPr/>
        </p:nvSpPr>
        <p:spPr>
          <a:xfrm>
            <a:off x="365760" y="3328416"/>
            <a:ext cx="73152" cy="502920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F77914D-9AF8-4C1D-96E0-B4AE11AAEE7C}"/>
              </a:ext>
            </a:extLst>
          </p:cNvPr>
          <p:cNvSpPr>
            <a:spLocks noGrp="1"/>
          </p:cNvSpPr>
          <p:nvPr/>
        </p:nvSpPr>
        <p:spPr>
          <a:xfrm>
            <a:off x="548640" y="3374136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E293B"/>
                </a:solidFill>
              </a:rPr>
              <a:t>4.  What can I substitute for lemongrass?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8BD5BB0-078F-458C-AFCC-35EF7F466706}"/>
              </a:ext>
            </a:extLst>
          </p:cNvPr>
          <p:cNvSpPr>
            <a:spLocks noGrp="1"/>
          </p:cNvSpPr>
          <p:nvPr/>
        </p:nvSpPr>
        <p:spPr>
          <a:xfrm>
            <a:off x="365760" y="3950208"/>
            <a:ext cx="5029200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3454F3D-CAA1-4ED5-8725-195BC83D45F7}"/>
              </a:ext>
            </a:extLst>
          </p:cNvPr>
          <p:cNvSpPr>
            <a:spLocks noGrp="1"/>
          </p:cNvSpPr>
          <p:nvPr/>
        </p:nvSpPr>
        <p:spPr>
          <a:xfrm>
            <a:off x="365760" y="3950208"/>
            <a:ext cx="73152" cy="502920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3079D6E-FEA6-4DDF-974E-89A2E0ADFF2D}"/>
              </a:ext>
            </a:extLst>
          </p:cNvPr>
          <p:cNvSpPr>
            <a:spLocks noGrp="1"/>
          </p:cNvSpPr>
          <p:nvPr/>
        </p:nvSpPr>
        <p:spPr>
          <a:xfrm>
            <a:off x="548640" y="3995928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E293B"/>
                </a:solidFill>
              </a:rPr>
              <a:t>5.  How do I make dumplings?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43BF1A7-5C9D-4CD8-BB1A-903BBE58DADB}"/>
              </a:ext>
            </a:extLst>
          </p:cNvPr>
          <p:cNvSpPr>
            <a:spLocks noGrp="1"/>
          </p:cNvSpPr>
          <p:nvPr/>
        </p:nvSpPr>
        <p:spPr>
          <a:xfrm>
            <a:off x="5760720" y="10972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EF4EDF7-2ACF-4420-8BFE-F5B946380413}"/>
              </a:ext>
            </a:extLst>
          </p:cNvPr>
          <p:cNvSpPr>
            <a:spLocks noGrp="1"/>
          </p:cNvSpPr>
          <p:nvPr/>
        </p:nvSpPr>
        <p:spPr>
          <a:xfrm>
            <a:off x="5760720" y="15544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FFFFF"/>
                </a:solidFill>
              </a:rPr>
              <a:t>☐  Open app 5 min before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8FBF981-27F8-4153-AB3E-47FE185FEF2F}"/>
              </a:ext>
            </a:extLst>
          </p:cNvPr>
          <p:cNvSpPr>
            <a:spLocks noGrp="1"/>
          </p:cNvSpPr>
          <p:nvPr/>
        </p:nvSpPr>
        <p:spPr>
          <a:xfrm>
            <a:off x="5760720" y="205740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FFFFF"/>
                </a:solidFill>
              </a:rPr>
              <a:t>☐  Clear chat before demo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26190D6-6373-4663-824C-DF9D75118879}"/>
              </a:ext>
            </a:extLst>
          </p:cNvPr>
          <p:cNvSpPr>
            <a:spLocks noGrp="1"/>
          </p:cNvSpPr>
          <p:nvPr/>
        </p:nvSpPr>
        <p:spPr>
          <a:xfrm>
            <a:off x="5760720" y="25603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FFFFF"/>
                </a:solidFill>
              </a:rPr>
              <a:t>☐  Have backup screenshots ready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123D8A6-1AA7-4F6C-92D1-303FAFD8B26E}"/>
              </a:ext>
            </a:extLst>
          </p:cNvPr>
          <p:cNvSpPr>
            <a:spLocks noGrp="1"/>
          </p:cNvSpPr>
          <p:nvPr/>
        </p:nvSpPr>
        <p:spPr>
          <a:xfrm>
            <a:off x="5760720" y="30632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FFFFF"/>
                </a:solidFill>
              </a:rPr>
              <a:t>☐  Streamlit URL in browser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357E8F1-B0AE-4EE1-8F21-D6F05B8C484E}"/>
              </a:ext>
            </a:extLst>
          </p:cNvPr>
          <p:cNvSpPr>
            <a:spLocks noGrp="1"/>
          </p:cNvSpPr>
          <p:nvPr/>
        </p:nvSpPr>
        <p:spPr>
          <a:xfrm>
            <a:off x="5760720" y="35661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FFFFF"/>
                </a:solidFill>
              </a:rPr>
              <a:t>☐  Internet connection ✓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9172209-1837-4964-89B6-EBFB459B8CCF}"/>
              </a:ext>
            </a:extLst>
          </p:cNvPr>
          <p:cNvSpPr>
            <a:spLocks noGrp="1"/>
          </p:cNvSpPr>
          <p:nvPr/>
        </p:nvSpPr>
        <p:spPr>
          <a:xfrm>
            <a:off x="5760720" y="40690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FFFFF"/>
                </a:solidFill>
              </a:rPr>
              <a:t>☐  API keys active ✓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D15A5E4-6AB8-45A6-9D7B-B858E62D3B4B}"/>
              </a:ext>
            </a:extLst>
          </p:cNvPr>
          <p:cNvSpPr>
            <a:spLocks noGrp="1"/>
          </p:cNvSpPr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ABC871F-D47C-4457-8D99-64588D39370B}"/>
              </a:ext>
            </a:extLst>
          </p:cNvPr>
          <p:cNvSpPr>
            <a:spLocks noGrp="1"/>
          </p:cNvSpPr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100">
                <a:solidFill>
                  <a:srgbClr val="FFFFFF"/>
                </a:solidFill>
              </a:rPr>
              <a:t>🌐  Deployed: </a:t>
            </a:r>
            <a:r>
              <a:rPr sz="1100">
                <a:solidFill>
                  <a:srgbClr val="FFFFFF"/>
                </a:solidFill>
                <a:hlinkClick r:id="rId3"/>
              </a:rPr>
              <a:t>https://asian-cooking-bot-cpkc3vyb9bkw8ktdtdxhvn.streamlit.app/</a:t>
            </a:r>
            <a:r>
              <a:rPr sz="1100">
                <a:solidFill>
                  <a:srgbClr val="FFFFFF"/>
                </a:solidFill>
              </a:rPr>
              <a:t> |  GitHub: </a:t>
            </a:r>
            <a:r>
              <a:rPr sz="1100">
                <a:solidFill>
                  <a:srgbClr val="FFFFFF"/>
                </a:solidFill>
                <a:hlinkClick r:id="rId4"/>
              </a:rPr>
              <a:t>https://github.com/asaah262/asian-cooking-bot</a:t>
            </a:r>
            <a:r>
              <a:rPr sz="1100">
                <a:solidFill>
                  <a:srgbClr val="FFFF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2039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</Words>
  <Application>Microsoft Macintosh PowerPoint</Application>
  <DocSecurity>0</DocSecurity>
  <PresentationFormat>On-screen Show (16:9)</PresentationFormat>
  <Paragraphs>195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Sara Ahmadi</cp:lastModifiedBy>
  <cp:revision>2</cp:revision>
  <dcterms:created xsi:type="dcterms:W3CDTF">2026-05-28T17:12:35Z</dcterms:created>
  <dcterms:modified xsi:type="dcterms:W3CDTF">2026-05-28T17:19:39Z</dcterms:modified>
</cp:coreProperties>
</file>